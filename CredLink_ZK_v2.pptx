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
<Relationships xmlns="http://schemas.openxmlformats.org/package/2006/relationships">
	<Relationship Id="rId1" Target="ppt/presentation.xml" Type="http://schemas.openxmlformats.org/officeDocument/2006/relationships/officeDocument" />
	<Relationship Id="rId2" Target="docProps/core.xml" Type="http://schemas.openxmlformats.org/package/2006/relationships/metadata/core-properties" />
	<Relationship Id="rId3" Target="docProps/app.xml" Type="http://schemas.openxmlformats.org/officeDocument/2006/relationships/extended-properties" />
	<Relationship Id="rId4" Target="docProps/thumbnail.jpeg" Type="http://schemas.openxmlformats.org/package/2006/relationships/metadata/thumbnail" 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gridSpacing cx="76200" cy="76200"/>
</p:viewPr>
</file>

<file path=ppt/_rels/presentation.xml.rels><?xml version="1.0" encoding="UTF-8" standalone="yes"?>
<Relationships xmlns="http://schemas.openxmlformats.org/package/2006/relationships">
	<Relationship Id="rId1" Target="slideMasters/slideMaster1.xml" Type="http://schemas.openxmlformats.org/officeDocument/2006/relationships/slideMaster" />
	<Relationship Id="rId2" Target="slides/slide1.xml" Type="http://schemas.openxmlformats.org/officeDocument/2006/relationships/slide" />
	<Relationship Id="rId3" Target="slides/slide2.xml" Type="http://schemas.openxmlformats.org/officeDocument/2006/relationships/slide" />
	<Relationship Id="rId4" Target="slides/slide3.xml" Type="http://schemas.openxmlformats.org/officeDocument/2006/relationships/slide" />
	<Relationship Id="rId5" Target="slides/slide4.xml" Type="http://schemas.openxmlformats.org/officeDocument/2006/relationships/slide" />
	<Relationship Id="rId6" Target="slides/slide5.xml" Type="http://schemas.openxmlformats.org/officeDocument/2006/relationships/slide" />
	<Relationship Id="rId7" Target="slides/slide6.xml" Type="http://schemas.openxmlformats.org/officeDocument/2006/relationships/slide" />
	<Relationship Id="rId8" Target="slides/slide7.xml" Type="http://schemas.openxmlformats.org/officeDocument/2006/relationships/slide" />
	<Relationship Id="rId9" Target="slides/slide8.xml" Type="http://schemas.openxmlformats.org/officeDocument/2006/relationships/slide" />
	<Relationship Id="rId10" Target="slides/slide9.xml" Type="http://schemas.openxmlformats.org/officeDocument/2006/relationships/slide" />
	<Relationship Id="rId11" Target="slides/slide10.xml" Type="http://schemas.openxmlformats.org/officeDocument/2006/relationships/slide" />
	<Relationship Id="rId12" Target="slides/slide11.xml" Type="http://schemas.openxmlformats.org/officeDocument/2006/relationships/slide" />
	<Relationship Id="rId13" Target="theme/theme1.xml" Type="http://schemas.openxmlformats.org/officeDocument/2006/relationships/theme" />
	<Relationship Id="rId14" Target="presProps.xml" Type="http://schemas.openxmlformats.org/officeDocument/2006/relationships/presProps" />
	<Relationship Id="rId15" Target="viewProps.xml" Type="http://schemas.openxmlformats.org/officeDocument/2006/relationships/viewProps" />
	<Relationship Id="rId16" Target="tableStyles.xml" Type="http://schemas.openxmlformats.org/officeDocument/2006/relationships/tableStyles" 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9A787-78FD-F961-1BBC-AC3559E05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3699FE-4AB2-E151-BEF1-1FAD0487F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20699-A2A4-C774-ACCA-27760ED5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6A2551-91DE-7425-3151-5AE24DC3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B228D-EDB8-6B20-521E-F8DA95A3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42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FBDEE-033D-3AB4-20F4-4EE1CAC1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D9BD3B-42BC-2021-6D8B-50B1CE6DF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B3899-6928-6D2D-AE82-848A276B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51D2B9-27F5-DC6A-CC14-8DB662D9C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68FD4B-5051-7008-815C-1D2165A1B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13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F8C0C-836C-1503-0394-F6DB5D01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42D9C2-3CAA-EAFD-F8A4-756D10830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FC950B-D2F6-AFD3-5E7F-3BFD0D0F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62B94-F36E-6BE9-9948-CF7B65A6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F8D59-E44A-3BE7-06B7-6CE7B929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594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7C902-9AFB-2FA6-DDD0-6B7A83CF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A8C2B3-0F7A-0C92-F375-35122CA1F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694788-9ED8-545F-9EB0-F6348FAB7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8E94-11D2-5776-C2D2-0C8D5AA7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069526-E1BA-1ACA-3564-704A1464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E67443-5441-1AE8-8809-E347351D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50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E4039-6CBA-F260-8495-3B98A1F6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CB4831-6554-1A6C-4D17-291E79D3F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8BE9F3-1BC5-A9F1-9149-F2D7051F4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7EE99A-A793-B750-6DB8-279478EE6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2E2838-53A9-CC1A-F56D-2C2BE72D5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4CD815-F839-1AD5-A989-C904224C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AC846E-D80C-DDEF-7D3A-8ABFD027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CC3925-3A80-B4EC-5EF4-C9D2EF98F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2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26897-8B9B-5F74-2233-7656650C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BD2FA7-C532-D986-A69F-9B4164BB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C9DCF3-6012-533D-7830-7F9D6FF6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C7741D-2A3B-F571-85AF-EB092F55D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01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51E56B-4948-E338-75B0-1373B5B6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04A0B1-BD58-AC5A-09F0-7426B7F5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865B9-E04E-B370-53FA-1B67A80E6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12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34F3B-81FA-19AA-10E9-183975B4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2AF872-5C9F-7D76-774E-7132CA903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0FB748-5ED6-09DF-81D9-901368E37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B6EBAD-112D-FFC3-34A1-DAC29DDA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7B91F8-11DD-98D0-5EBD-58A2D639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1E071D-BD93-6A85-963C-1B335D48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72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A4F1C-BDB2-6162-62F2-318C36C8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66FAEB-BAB6-9026-6300-E2F857BAF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5E9B5-49D9-7C94-D159-280F3B4E1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C92B7A-3A9B-0335-3EEE-0BC0FE68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BA28A4-F9AC-5EC6-AC57-52150291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A5D95-43D5-27C3-14D3-B70D0B53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155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B89EA-E173-9908-3603-17F62F94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38FF8C-07BD-1AC1-37F2-201CA768E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0B122-8C0F-CBB4-4120-981430F8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2C671-A270-28F6-0E8D-78B7B060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F35323-3294-3644-D37A-C9EF8DE4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71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5850239-0923-BD52-DAAF-57394AD8C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7B1E64-8D89-ACD3-787E-0D5CFE4BC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BB6B5E-BE3E-41DD-0AA1-16B129E1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92A8E-63A0-2D4E-A6A7-E203336472B5}" type="datetimeFigureOut">
              <a:rPr lang="en-US" altLang="zh-CN" smtClean="0"/>
              <a:t>12/25/24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BDA3B-1B03-5E37-1DFD-D7CF2777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82112-4405-03E0-07A2-87C776E7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F6E2-E1ED-A344-9FCB-7EC31DAB2D2B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84310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	<Relationship Id="rId2" Target="../slideLayouts/slideLayout2.xml" Type="http://schemas.openxmlformats.org/officeDocument/2006/relationships/slideLayout" />
	<Relationship Id="rId3" Target="../slideLayouts/slideLayout3.xml" Type="http://schemas.openxmlformats.org/officeDocument/2006/relationships/slideLayout" />
	<Relationship Id="rId4" Target="../slideLayouts/slideLayout4.xml" Type="http://schemas.openxmlformats.org/officeDocument/2006/relationships/slideLayout" />
	<Relationship Id="rId5" Target="../slideLayouts/slideLayout5.xml" Type="http://schemas.openxmlformats.org/officeDocument/2006/relationships/slideLayout" />
	<Relationship Id="rId6" Target="../slideLayouts/slideLayout6.xml" Type="http://schemas.openxmlformats.org/officeDocument/2006/relationships/slideLayout" />
	<Relationship Id="rId7" Target="../slideLayouts/slideLayout7.xml" Type="http://schemas.openxmlformats.org/officeDocument/2006/relationships/slideLayout" />
	<Relationship Id="rId8" Target="../slideLayouts/slideLayout8.xml" Type="http://schemas.openxmlformats.org/officeDocument/2006/relationships/slideLayout" />
	<Relationship Id="rId9" Target="../slideLayouts/slideLayout9.xml" Type="http://schemas.openxmlformats.org/officeDocument/2006/relationships/slideLayout" />
	<Relationship Id="rId10" Target="../slideLayouts/slideLayout10.xml" Type="http://schemas.openxmlformats.org/officeDocument/2006/relationships/slideLayout" />
	<Relationship Id="rId11" Target="../slideLayouts/slideLayout11.xml" Type="http://schemas.openxmlformats.org/officeDocument/2006/relationships/slideLayout" />
	<Relationship Id="rId12" Target="../theme/theme1.xml" Type="http://schemas.openxmlformats.org/officeDocument/2006/relationships/theme" 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BDD4C2-6D3B-EDFC-6D90-2068C9E0F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CF0374-A47A-3405-EA38-80C9723E906D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二级</a:t>
            </a:r>
          </a:p>
          <a:p>
            <a:pPr lvl="2"/>
            <a:r>
              <a:rPr altLang="en-US" lang="zh-CN"/>
              <a:t>三级</a:t>
            </a:r>
          </a:p>
          <a:p>
            <a:pPr lvl="3"/>
            <a:r>
              <a:rPr altLang="en-US" lang="zh-CN"/>
              <a:t>四级</a:t>
            </a:r>
          </a:p>
          <a:p>
            <a:pPr lvl="4"/>
            <a:r>
              <a:rPr altLang="en-US" lang="zh-CN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804790-E4F3-1E92-061F-6633B3E43D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92A8E-63A0-2D4E-A6A7-E203336472B5}" type="datetimeFigureOut">
              <a:rPr altLang="zh-CN" lang="en-US" smtClean="0"/>
              <a:t>02/28/26</a:t>
            </a:fld>
            <a:endParaRPr altLang="en-US"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BCD22B-FCE2-876E-16AD-38ED213DDD28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9BCCD5-7D98-B7AC-92C8-2E2382B36A68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3F6E2-E1ED-A344-9FCB-7EC31DAB2D2B}" type="slidenum">
              <a:rPr altLang="zh-CN" lang="en-US" smtClean="0"/>
              <a:t>‹#›</a:t>
            </a:fld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234502134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ct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ct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2.xml.rels><?xml version="1.0" encoding="UTF-8" standalone="yes"?>
<Relationships xmlns="http://schemas.openxmlformats.org/package/2006/relationships">
	<Relationship Id="rId1" Target="../media/image17722668293976629.png" Type="http://schemas.openxmlformats.org/officeDocument/2006/relationships/image" />
	<Relationship Id="rId2" Target="../media/image17722668293987221.png" Type="http://schemas.openxmlformats.org/officeDocument/2006/relationships/image" />
	<Relationship Id="rId3" Target="../media/image17722668293981148.png" Type="http://schemas.openxmlformats.org/officeDocument/2006/relationships/image" />
	<Relationship Id="rId4" Target="../slideLayouts/slideLayout1.xml" Type="http://schemas.openxmlformats.org/officeDocument/2006/relationships/slideLayout" />
</Relationships>
</file>

<file path=ppt/slides/_rels/slide3.xml.rels><?xml version="1.0" encoding="UTF-8" standalone="yes"?>
<Relationships xmlns="http://schemas.openxmlformats.org/package/2006/relationships">
	<Relationship Id="rId1" Target="../media/image17722668294087063.png" Type="http://schemas.openxmlformats.org/officeDocument/2006/relationships/image" />
	<Relationship Id="rId2" Target="../media/image17722668294085149.png" Type="http://schemas.openxmlformats.org/officeDocument/2006/relationships/image" />
	<Relationship Id="rId3" Target="../media/image17722668294083509.png" Type="http://schemas.openxmlformats.org/officeDocument/2006/relationships/image" />
	<Relationship Id="rId4" Target="../media/image17722668294092042.png" Type="http://schemas.openxmlformats.org/officeDocument/2006/relationships/image" />
	<Relationship Id="rId5" Target="../slideLayouts/slideLayout1.xml" Type="http://schemas.openxmlformats.org/officeDocument/2006/relationships/slideLayout" />
</Relationships>
</file>

<file path=ppt/slides/_rels/slide4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5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6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7.xml.rels><?xml version="1.0" encoding="UTF-8" standalone="yes"?>
<Relationships xmlns="http://schemas.openxmlformats.org/package/2006/relationships">
	<Relationship Id="rId1" Target="../media/image17722668294595839.png" Type="http://schemas.openxmlformats.org/officeDocument/2006/relationships/image" />
	<Relationship Id="rId2" Target="../media/image17722668294602078.png" Type="http://schemas.openxmlformats.org/officeDocument/2006/relationships/image" />
	<Relationship Id="rId3" Target="../media/image17722668294603231.png" Type="http://schemas.openxmlformats.org/officeDocument/2006/relationships/image" />
	<Relationship Id="rId4" Target="../media/image17722668294612695.png" Type="http://schemas.openxmlformats.org/officeDocument/2006/relationships/image" />
	<Relationship Id="rId5" Target="../media/image17722668294612528.png" Type="http://schemas.openxmlformats.org/officeDocument/2006/relationships/image" />
	<Relationship Id="rId6" Target="../media/image17722668294629808.png" Type="http://schemas.openxmlformats.org/officeDocument/2006/relationships/image" />
	<Relationship Id="rId7" Target="../slideLayouts/slideLayout1.xml" Type="http://schemas.openxmlformats.org/officeDocument/2006/relationships/slideLayout" />
</Relationships>
</file>

<file path=ppt/slides/_rels/slide8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9.xml.rels><?xml version="1.0" encoding="UTF-8" standalone="yes"?>
<Relationships xmlns="http://schemas.openxmlformats.org/package/2006/relationships">
	<Relationship Id="rId1" Target="../media/image17722668294866304.png" Type="http://schemas.openxmlformats.org/officeDocument/2006/relationships/image" />
	<Relationship Id="rId2" Target="../media/image17722668294866370.png" Type="http://schemas.openxmlformats.org/officeDocument/2006/relationships/image" />
	<Relationship Id="rId3" Target="../media/image17722668294879910.png" Type="http://schemas.openxmlformats.org/officeDocument/2006/relationships/image" />
	<Relationship Id="rId4" Target="../slideLayouts/slideLayout1.xml" Type="http://schemas.openxmlformats.org/officeDocument/2006/relationships/slideLayout" />
</Relationships>
</file>

<file path=ppt/slides/_rels/slide10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_rels/slide11.xml.rels><?xml version="1.0" encoding="UTF-8" standalone="yes"?>
<Relationships xmlns="http://schemas.openxmlformats.org/package/2006/relationships">
	<Relationship Id="rId1" Target="../slideLayouts/slideLayout1.xml" Type="http://schemas.openxmlformats.org/officeDocument/2006/relationships/slideLayout" 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365760" y="164592"/>
            <a:ext cx="54864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BNB CHAIN × YZI LABS HACKATHON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132320" y="109728"/>
            <a:ext cx="173736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5" name="文本框 4"/>
          <p:cNvSpPr txBox="1"/>
          <p:nvPr/>
        </p:nvSpPr>
        <p:spPr>
          <a:xfrm>
            <a:off x="7132320" y="109728"/>
            <a:ext cx="173736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000000"/>
                </a:solidFill>
              </a:rPr>
              <a:t>Bengaluru 2026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7200" y="658368"/>
            <a:ext cx="658368" cy="6583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7" name="文本框 6"/>
          <p:cNvSpPr txBox="1"/>
          <p:nvPr/>
        </p:nvSpPr>
        <p:spPr>
          <a:xfrm>
            <a:off x="457200" y="658368"/>
            <a:ext cx="658368" cy="6583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800">
                <a:latin charset="0" typeface="PingFang SC"/>
                <a:ea charset="0" typeface="PingFang SC"/>
                <a:solidFill>
                  <a:srgbClr val="000000"/>
                </a:solidFill>
              </a:rPr>
              <a:t>ZK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65760" y="1417320"/>
            <a:ext cx="6400800" cy="12801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6200">
                <a:latin charset="0" typeface="PingFang SC"/>
                <a:ea charset="0" typeface="PingFang SC"/>
                <a:solidFill>
                  <a:srgbClr val="FFFFFF"/>
                </a:solidFill>
              </a:rPr>
              <a:t>CredLink </a:t>
            </a:r>
            <a:r>
              <a:rPr altLang="en-US" b="1" lang="zh-CN" spc="0" sz="6200">
                <a:latin charset="0" typeface="PingFang SC"/>
                <a:ea charset="0" typeface="PingFang SC"/>
                <a:solidFill>
                  <a:srgbClr val="F5A623"/>
                </a:solidFill>
              </a:rPr>
              <a:t>ZK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5760" y="2743200"/>
            <a:ext cx="6400800" cy="4114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600">
                <a:latin charset="0" typeface="PingFang SC"/>
                <a:ea charset="0" typeface="PingFang SC"/>
                <a:solidFill>
                  <a:srgbClr val="AAAAAA"/>
                </a:solidFill>
              </a:rPr>
              <a:t>Privacy-Preserving Behavioral Credit Protocol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5760" y="3337560"/>
            <a:ext cx="45720" cy="7315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1" name="文本框 10"/>
          <p:cNvSpPr txBox="1"/>
          <p:nvPr/>
        </p:nvSpPr>
        <p:spPr>
          <a:xfrm>
            <a:off x="548640" y="3337560"/>
            <a:ext cx="5486400" cy="38404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Prove creditworthiness without revealing your financial fingerprint.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48640" y="3767328"/>
            <a:ext cx="2011680" cy="256032"/>
          </a:xfrm>
          <a:prstGeom prst="rect">
            <a:avLst/>
          </a:prstGeom>
        </p:spPr>
        <p:txBody>
          <a:bodyPr/>
          <a:lstStyle/>
        </p:txBody>
      </p:sp>
      <p:sp>
        <p:nvSpPr>
          <p:cNvPr id="13" name="文本框 12"/>
          <p:cNvSpPr txBox="1"/>
          <p:nvPr/>
        </p:nvSpPr>
        <p:spPr>
          <a:xfrm>
            <a:off x="548640" y="3767328"/>
            <a:ext cx="2011680" cy="256032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000000"/>
                </a:solidFill>
              </a:rPr>
              <a:t>Built on opBNB Testnet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65760" y="4279392"/>
            <a:ext cx="27432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TEAM COMPOSITION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65760" y="4462272"/>
            <a:ext cx="45720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100">
                <a:latin charset="0" typeface="PingFang SC"/>
                <a:ea charset="0" typeface="PingFang SC"/>
                <a:solidFill>
                  <a:srgbClr val="FFFFFF"/>
                </a:solidFill>
              </a:rPr>
              <a:t>Somesh T  •  Aditya C  •  Manan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00800" y="4114800"/>
            <a:ext cx="2468880" cy="804672"/>
          </a:xfrm>
          <a:prstGeom prst="rect">
            <a:avLst/>
          </a:prstGeom>
        </p:spPr>
        <p:txBody>
          <a:bodyPr/>
          <a:lstStyle/>
        </p:txBody>
      </p:sp>
      <p:sp>
        <p:nvSpPr>
          <p:cNvPr id="17" name="文本框 16"/>
          <p:cNvSpPr txBox="1"/>
          <p:nvPr/>
        </p:nvSpPr>
        <p:spPr>
          <a:xfrm>
            <a:off x="6400800" y="4389120"/>
            <a:ext cx="2468880" cy="38404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2200">
                <a:latin charset="0" typeface="PingFang SC"/>
                <a:ea charset="0" typeface="PingFang SC"/>
                <a:solidFill>
                  <a:srgbClr val="FFFFFF"/>
                </a:solidFill>
              </a:rPr>
              <a:t>BUILD </a:t>
            </a:r>
            <a:r>
              <a:rPr altLang="en-US" b="1" lang="zh-CN" spc="0" sz="2200">
                <a:latin charset="0" typeface="PingFang SC"/>
                <a:ea charset="0" typeface="PingFang SC"/>
                <a:solidFill>
                  <a:srgbClr val="F5A623"/>
                </a:solidFill>
              </a:rPr>
              <a:t>TOP 1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90330" y="1909141"/>
            <a:ext cx="8163339" cy="1325217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2000">
                <a:latin charset="0" typeface="PingFang SC"/>
                <a:ea charset="0" typeface="PingFang SC"/>
                <a:solidFill>
                  <a:srgbClr val="000000"/>
                </a:solidFill>
              </a:rPr>
              <a:t>Double-click to edit text content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36576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THE PROBLEM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8229600" cy="7772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800">
                <a:latin charset="0" typeface="PingFang SC"/>
                <a:ea charset="0" typeface="PingFang SC"/>
                <a:solidFill>
                  <a:srgbClr val="FFFFFF"/>
                </a:solidFill>
              </a:rPr>
              <a:t>DeFi Lending is </a:t>
            </a:r>
            <a:r>
              <a:rPr altLang="en-US" b="1" lang="zh-CN" spc="0" sz="3800">
                <a:latin charset="0" typeface="PingFang SC"/>
                <a:ea charset="0" typeface="PingFang SC"/>
                <a:solidFill>
                  <a:srgbClr val="E53935"/>
                </a:solidFill>
              </a:rPr>
              <a:t>Broken </a:t>
            </a:r>
            <a:r>
              <a:rPr altLang="en-US" b="1" lang="zh-CN" spc="0" sz="3800">
                <a:latin charset="0" typeface="PingFang SC"/>
                <a:ea charset="0" typeface="PingFang SC"/>
                <a:solidFill>
                  <a:srgbClr val="FFFFFF"/>
                </a:solidFill>
              </a:rPr>
              <a:t>Inefficient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200" y="1325880"/>
            <a:ext cx="7772400" cy="4114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200">
                <a:latin charset="0" typeface="PingFang SC"/>
                <a:ea charset="0" typeface="PingFang SC"/>
                <a:solidFill>
                  <a:srgbClr val="AAAAAA"/>
                </a:solidFill>
              </a:rPr>
              <a:t>Current protocols sacrifice capital efficiency and privacy for security, creating a high barrier to entry for millions of users.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4320" y="1874520"/>
            <a:ext cx="2834640" cy="30175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7" name="文本框 6"/>
          <p:cNvSpPr txBox="1"/>
          <p:nvPr/>
        </p:nvSpPr>
        <p:spPr>
          <a:xfrm>
            <a:off x="411480" y="1965960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475488" y="2029968"/>
            <a:ext cx="347472" cy="347472"/>
          </a:xfrm>
          <a:prstGeom prst="rect">
            <a:avLst/>
          </a:prstGeom>
        </p:sp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9" name="文本框 8"/>
          <p:cNvSpPr txBox="1"/>
          <p:nvPr/>
        </p:nvSpPr>
        <p:spPr>
          <a:xfrm>
            <a:off x="411480" y="2542032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FFFFF"/>
                </a:solidFill>
              </a:rPr>
              <a:t>Capital Trap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1480" y="2834640"/>
            <a:ext cx="1691640" cy="5029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600">
                <a:latin charset="0" typeface="PingFang SC"/>
                <a:ea charset="0" typeface="PingFang SC"/>
                <a:solidFill>
                  <a:srgbClr val="F5A623"/>
                </a:solidFill>
              </a:rPr>
              <a:t>150%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280160" y="2944368"/>
            <a:ext cx="169164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COLLATERAL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11480" y="3383280"/>
            <a:ext cx="2560320" cy="10058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To borrow $100, you must lock $150. This massive overcollateralization creates dead capital that cannot be used for other opportunities, killing leverage for power users.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1480" y="4462272"/>
            <a:ext cx="91440" cy="91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4" name="文本框 13"/>
          <p:cNvSpPr txBox="1"/>
          <p:nvPr/>
        </p:nvSpPr>
        <p:spPr>
          <a:xfrm>
            <a:off x="594360" y="4416552"/>
            <a:ext cx="246888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E53935"/>
                </a:solidFill>
              </a:rPr>
              <a:t>Inefficient Capital Allocation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291840" y="1874520"/>
            <a:ext cx="2834640" cy="30175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6" name="文本框 15"/>
          <p:cNvSpPr txBox="1"/>
          <p:nvPr/>
        </p:nvSpPr>
        <p:spPr>
          <a:xfrm>
            <a:off x="3429000" y="1965960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3493008" y="2029968"/>
            <a:ext cx="347472" cy="347472"/>
          </a:xfrm>
          <a:prstGeom prst="rect">
            <a:avLst/>
          </a:prstGeom>
        </p:sp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18" name="文本框 17"/>
          <p:cNvSpPr txBox="1"/>
          <p:nvPr/>
        </p:nvSpPr>
        <p:spPr>
          <a:xfrm>
            <a:off x="3429000" y="2542032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FFFFF"/>
                </a:solidFill>
              </a:rPr>
              <a:t>Privacy Leakage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429000" y="2834640"/>
            <a:ext cx="1691640" cy="5029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600">
                <a:latin charset="0" typeface="PingFang SC"/>
                <a:ea charset="0" typeface="PingFang SC"/>
                <a:solidFill>
                  <a:srgbClr val="F5A623"/>
                </a:solidFill>
              </a:rPr>
              <a:t>100%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297680" y="2944368"/>
            <a:ext cx="169164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EXPOSURE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429000" y="3383280"/>
            <a:ext cx="2560320" cy="10058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Public ledgers reveal your entire financial fingerprint. Competitors, liquidators, and MEV bots can see your exact positions and strategies in real-time.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429000" y="4462272"/>
            <a:ext cx="91440" cy="91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3" name="文本框 22"/>
          <p:cNvSpPr txBox="1"/>
          <p:nvPr/>
        </p:nvSpPr>
        <p:spPr>
          <a:xfrm>
            <a:off x="3611880" y="4416552"/>
            <a:ext cx="246888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E53935"/>
                </a:solidFill>
              </a:rPr>
              <a:t>Front-running Risk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309360" y="1874520"/>
            <a:ext cx="2834640" cy="30175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5" name="文本框 24"/>
          <p:cNvSpPr txBox="1"/>
          <p:nvPr/>
        </p:nvSpPr>
        <p:spPr>
          <a:xfrm>
            <a:off x="6446520" y="1965960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6510528" y="2029968"/>
            <a:ext cx="347472" cy="347472"/>
          </a:xfrm>
          <a:prstGeom prst="rect">
            <a:avLst/>
          </a:prstGeom>
        </p:sp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27" name="文本框 26"/>
          <p:cNvSpPr txBox="1"/>
          <p:nvPr/>
        </p:nvSpPr>
        <p:spPr>
          <a:xfrm>
            <a:off x="6446520" y="2542032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FFFFF"/>
                </a:solidFill>
              </a:rPr>
              <a:t>Market Exclusion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446520" y="2834640"/>
            <a:ext cx="1691640" cy="5029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600">
                <a:latin charset="0" typeface="PingFang SC"/>
                <a:ea charset="0" typeface="PingFang SC"/>
                <a:solidFill>
                  <a:srgbClr val="F5A623"/>
                </a:solidFill>
              </a:rPr>
              <a:t>600M+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315200" y="2944368"/>
            <a:ext cx="169164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EXCLUDED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446520" y="3383280"/>
            <a:ext cx="2560320" cy="10058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Millions of on-chain earners (freelancers, gamers) have income but no credit file. Without a reputation layer, protocols treat everyone as a defaulter.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446520" y="4462272"/>
            <a:ext cx="91440" cy="91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2" name="文本框 31"/>
          <p:cNvSpPr txBox="1"/>
          <p:nvPr/>
        </p:nvSpPr>
        <p:spPr>
          <a:xfrm>
            <a:off x="6629400" y="4416552"/>
            <a:ext cx="246888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E53935"/>
                </a:solidFill>
              </a:rPr>
              <a:t>Zero Credit Mobility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36576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THE SOLUTION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64008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800">
                <a:latin charset="0" typeface="PingFang SC"/>
                <a:ea charset="0" typeface="PingFang SC"/>
                <a:solidFill>
                  <a:srgbClr val="FFFFFF"/>
                </a:solidFill>
              </a:rPr>
              <a:t>CredLink </a:t>
            </a:r>
            <a:r>
              <a:rPr altLang="en-US" b="1" lang="zh-CN" spc="0" sz="3800">
                <a:latin charset="0" typeface="PingFang SC"/>
                <a:ea charset="0" typeface="PingFang SC"/>
                <a:solidFill>
                  <a:srgbClr val="F5A623"/>
                </a:solidFill>
              </a:rPr>
              <a:t>ZK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200" y="1143000"/>
            <a:ext cx="640080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200">
                <a:latin charset="0" typeface="PingFang SC"/>
                <a:ea charset="0" typeface="PingFang SC"/>
                <a:solidFill>
                  <a:srgbClr val="AAAAAA"/>
                </a:solidFill>
              </a:rPr>
              <a:t>Unlocking capital efficiency through privacy-preserving behavioral proofs.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223760" y="457200"/>
            <a:ext cx="1600200" cy="6400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7" name="文本框 6"/>
          <p:cNvSpPr txBox="1"/>
          <p:nvPr/>
        </p:nvSpPr>
        <p:spPr>
          <a:xfrm>
            <a:off x="7223760" y="502920"/>
            <a:ext cx="1600200" cy="18288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CAPITAL SAVINGS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223760" y="685800"/>
            <a:ext cx="160020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800">
                <a:latin charset="0" typeface="PingFang SC"/>
                <a:ea charset="0" typeface="PingFang SC"/>
                <a:solidFill>
                  <a:srgbClr val="F5A623"/>
                </a:solidFill>
              </a:rPr>
              <a:t>Up to 26%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4320" y="1600200"/>
            <a:ext cx="4114800" cy="1417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0" name="文本框 9"/>
          <p:cNvSpPr txBox="1"/>
          <p:nvPr/>
        </p:nvSpPr>
        <p:spPr>
          <a:xfrm>
            <a:off x="411480" y="170992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475488" y="1773936"/>
            <a:ext cx="347472" cy="347472"/>
          </a:xfrm>
          <a:prstGeom prst="rect">
            <a:avLst/>
          </a:prstGeom>
        </p:sp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12" name="文本框 11"/>
          <p:cNvSpPr txBox="1"/>
          <p:nvPr/>
        </p:nvSpPr>
        <p:spPr>
          <a:xfrm>
            <a:off x="960120" y="1737360"/>
            <a:ext cx="329184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FFFFF"/>
                </a:solidFill>
              </a:rPr>
              <a:t>Behavioral ZK Proofs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11480" y="2258568"/>
            <a:ext cx="3840480" cy="5029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Analyzes wallet history locally (age, repayment consistency, default ratio) and generates a cryptographic proof.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11480" y="2807208"/>
            <a:ext cx="91440" cy="91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5" name="文本框 14"/>
          <p:cNvSpPr txBox="1"/>
          <p:nvPr/>
        </p:nvSpPr>
        <p:spPr>
          <a:xfrm>
            <a:off x="594360" y="2761488"/>
            <a:ext cx="34747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F5A623"/>
                </a:solidFill>
              </a:rPr>
              <a:t>Circom 2.0 + SnarkJS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63440" y="1600200"/>
            <a:ext cx="4114800" cy="1417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7" name="文本框 16"/>
          <p:cNvSpPr txBox="1"/>
          <p:nvPr/>
        </p:nvSpPr>
        <p:spPr>
          <a:xfrm>
            <a:off x="4800600" y="170992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4864608" y="1773936"/>
            <a:ext cx="347472" cy="347472"/>
          </a:xfrm>
          <a:prstGeom prst="rect">
            <a:avLst/>
          </a:prstGeom>
        </p:sp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19" name="文本框 18"/>
          <p:cNvSpPr txBox="1"/>
          <p:nvPr/>
        </p:nvSpPr>
        <p:spPr>
          <a:xfrm>
            <a:off x="5349240" y="1737360"/>
            <a:ext cx="329184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FFFFF"/>
                </a:solidFill>
              </a:rPr>
              <a:t>Dynamic Credit Tiers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800600" y="2258568"/>
            <a:ext cx="3840480" cy="5029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Smart contracts verify proofs to assign Tiers 0-3. Higher tiers significantly reduce collateral requirements.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800600" y="2807208"/>
            <a:ext cx="91440" cy="91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2" name="文本框 21"/>
          <p:cNvSpPr txBox="1"/>
          <p:nvPr/>
        </p:nvSpPr>
        <p:spPr>
          <a:xfrm>
            <a:off x="4983480" y="2761488"/>
            <a:ext cx="34747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F5A623"/>
                </a:solidFill>
              </a:rPr>
              <a:t>150% → 110%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74320" y="3154680"/>
            <a:ext cx="4114800" cy="1417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4" name="文本框 23"/>
          <p:cNvSpPr txBox="1"/>
          <p:nvPr/>
        </p:nvSpPr>
        <p:spPr>
          <a:xfrm>
            <a:off x="411480" y="326440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475488" y="3328416"/>
            <a:ext cx="347472" cy="347472"/>
          </a:xfrm>
          <a:prstGeom prst="rect">
            <a:avLst/>
          </a:prstGeom>
        </p:sp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26" name="文本框 25"/>
          <p:cNvSpPr txBox="1"/>
          <p:nvPr/>
        </p:nvSpPr>
        <p:spPr>
          <a:xfrm>
            <a:off x="960120" y="3291840"/>
            <a:ext cx="329184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FFFFF"/>
                </a:solidFill>
              </a:rPr>
              <a:t>Zero-Knowledge Privacy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11480" y="3813048"/>
            <a:ext cx="3840480" cy="5029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Lenders only see "Tier 3 Approved". Your exact wallet age, balance history, and trading strategies remain hidden.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11480" y="4361688"/>
            <a:ext cx="91440" cy="91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9" name="文本框 28"/>
          <p:cNvSpPr txBox="1"/>
          <p:nvPr/>
        </p:nvSpPr>
        <p:spPr>
          <a:xfrm>
            <a:off x="594360" y="4315968"/>
            <a:ext cx="34747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F5A623"/>
                </a:solidFill>
              </a:rPr>
              <a:t>Data Mathematically Sealed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663440" y="3154680"/>
            <a:ext cx="4114800" cy="1417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1" name="文本框 30"/>
          <p:cNvSpPr txBox="1"/>
          <p:nvPr/>
        </p:nvSpPr>
        <p:spPr>
          <a:xfrm>
            <a:off x="4800600" y="326440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4864608" y="3328416"/>
            <a:ext cx="347472" cy="347472"/>
          </a:xfrm>
          <a:prstGeom prst="rect">
            <a:avLst/>
          </a:prstGeom>
        </p:sp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33" name="文本框 32"/>
          <p:cNvSpPr txBox="1"/>
          <p:nvPr/>
        </p:nvSpPr>
        <p:spPr>
          <a:xfrm>
            <a:off x="5349240" y="3291840"/>
            <a:ext cx="329184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FFFFF"/>
                </a:solidFill>
              </a:rPr>
              <a:t>Built on opBNB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800600" y="3813048"/>
            <a:ext cx="3840480" cy="5029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Complex ZK verification is too expensive on L1. opBNB's ultra-low fees make frequent credit updates viable.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800600" y="4361688"/>
            <a:ext cx="91440" cy="91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6" name="文本框 35"/>
          <p:cNvSpPr txBox="1"/>
          <p:nvPr/>
        </p:nvSpPr>
        <p:spPr>
          <a:xfrm>
            <a:off x="4983480" y="4315968"/>
            <a:ext cx="34747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F5A623"/>
                </a:solidFill>
              </a:rPr>
              <a:t>Fractions of a cent per proof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74320" y="4800600"/>
            <a:ext cx="192024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✓ No KYC Required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2286000" y="4800600"/>
            <a:ext cx="192024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✓ Non-Custodial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4297680" y="4800600"/>
            <a:ext cx="192024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✓ Trustless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SYSTEM ARCHITECTURE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64008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How 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5A623"/>
                </a:solidFill>
              </a:rPr>
              <a:t>CredLink ZK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 Works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75120" y="594360"/>
            <a:ext cx="137160" cy="137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6" name="文本框 5"/>
          <p:cNvSpPr txBox="1"/>
          <p:nvPr/>
        </p:nvSpPr>
        <p:spPr>
          <a:xfrm>
            <a:off x="6858000" y="548640"/>
            <a:ext cx="109728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Off-Chain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955280" y="594360"/>
            <a:ext cx="137160" cy="137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8" name="文本框 7"/>
          <p:cNvSpPr txBox="1"/>
          <p:nvPr/>
        </p:nvSpPr>
        <p:spPr>
          <a:xfrm>
            <a:off x="8138160" y="548640"/>
            <a:ext cx="13716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On-Chain (opBNB)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4320" y="1234440"/>
            <a:ext cx="2286000" cy="15544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0" name="文本框 9"/>
          <p:cNvSpPr txBox="1"/>
          <p:nvPr/>
        </p:nvSpPr>
        <p:spPr>
          <a:xfrm>
            <a:off x="365760" y="1325880"/>
            <a:ext cx="3200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1" name="文本框 10"/>
          <p:cNvSpPr txBox="1"/>
          <p:nvPr/>
        </p:nvSpPr>
        <p:spPr>
          <a:xfrm>
            <a:off x="365760" y="1325880"/>
            <a:ext cx="32004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100">
                <a:latin charset="0" typeface="PingFang SC"/>
                <a:ea charset="0" typeface="PingFang SC"/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77240" y="1325880"/>
            <a:ext cx="16459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User Wallet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77240" y="1600200"/>
            <a:ext cx="16459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Metamask / Rabby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11480" y="2011680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Connects to App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11480" y="2304288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Signs Transactions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743200" y="1234440"/>
            <a:ext cx="2286000" cy="15544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7" name="文本框 16"/>
          <p:cNvSpPr txBox="1"/>
          <p:nvPr/>
        </p:nvSpPr>
        <p:spPr>
          <a:xfrm>
            <a:off x="2834640" y="1325880"/>
            <a:ext cx="3200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8" name="文本框 17"/>
          <p:cNvSpPr txBox="1"/>
          <p:nvPr/>
        </p:nvSpPr>
        <p:spPr>
          <a:xfrm>
            <a:off x="2834640" y="1325880"/>
            <a:ext cx="32004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100">
                <a:latin charset="0" typeface="PingFang SC"/>
                <a:ea charset="0" typeface="PingFang SC"/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46120" y="1325880"/>
            <a:ext cx="16459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Proof Gen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246120" y="1600200"/>
            <a:ext cx="16459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Local Browser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880360" y="2011680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Fetches History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880360" y="2304288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Generates zk-SNARK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212080" y="1234440"/>
            <a:ext cx="2286000" cy="15544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4" name="文本框 23"/>
          <p:cNvSpPr txBox="1"/>
          <p:nvPr/>
        </p:nvSpPr>
        <p:spPr>
          <a:xfrm>
            <a:off x="5303520" y="1325880"/>
            <a:ext cx="3200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5" name="文本框 24"/>
          <p:cNvSpPr txBox="1"/>
          <p:nvPr/>
        </p:nvSpPr>
        <p:spPr>
          <a:xfrm>
            <a:off x="5303520" y="1325880"/>
            <a:ext cx="32004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100">
                <a:latin charset="0" typeface="PingFang SC"/>
                <a:ea charset="0" typeface="PingFang SC"/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715000" y="1325880"/>
            <a:ext cx="16459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ZKVerifier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715000" y="1600200"/>
            <a:ext cx="16459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.sol Contract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349240" y="2011680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Verifies Proof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349240" y="2304288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Updates Score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743200" y="3017520"/>
            <a:ext cx="2286000" cy="15544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1" name="文本框 30"/>
          <p:cNvSpPr txBox="1"/>
          <p:nvPr/>
        </p:nvSpPr>
        <p:spPr>
          <a:xfrm>
            <a:off x="2834640" y="3108960"/>
            <a:ext cx="3200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2" name="文本框 31"/>
          <p:cNvSpPr txBox="1"/>
          <p:nvPr/>
        </p:nvSpPr>
        <p:spPr>
          <a:xfrm>
            <a:off x="2834640" y="3108960"/>
            <a:ext cx="32004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100">
                <a:latin charset="0" typeface="PingFang SC"/>
                <a:ea charset="0" typeface="PingFang SC"/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246120" y="3108960"/>
            <a:ext cx="16459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CreditScoreZK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3246120" y="3383280"/>
            <a:ext cx="16459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Storage Logic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2880360" y="3794760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Stores Tier (0-3)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880360" y="4087368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Sets Collateral Ratio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212080" y="3017520"/>
            <a:ext cx="2286000" cy="15544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8" name="文本框 37"/>
          <p:cNvSpPr txBox="1"/>
          <p:nvPr/>
        </p:nvSpPr>
        <p:spPr>
          <a:xfrm>
            <a:off x="5303520" y="3108960"/>
            <a:ext cx="3200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9" name="文本框 38"/>
          <p:cNvSpPr txBox="1"/>
          <p:nvPr/>
        </p:nvSpPr>
        <p:spPr>
          <a:xfrm>
            <a:off x="5303520" y="3108960"/>
            <a:ext cx="32004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100">
                <a:latin charset="0" typeface="PingFang SC"/>
                <a:ea charset="0" typeface="PingFang SC"/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715000" y="3108960"/>
            <a:ext cx="16459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LendingPool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5715000" y="3383280"/>
            <a:ext cx="164592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Liquidity Logic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349240" y="3794760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Disburses Loans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349240" y="4087368"/>
            <a:ext cx="201168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• Manages Collateral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2606040" y="2011680"/>
            <a:ext cx="182880" cy="0"/>
          </a:xfrm>
          <a:prstGeom prst="rect">
            <a:avLst/>
          </a:prstGeom>
        </p:spPr>
        <p:txBody>
          <a:bodyPr/>
          <a:lstStyle/>
        </p:txBody>
      </p:sp>
      <p:sp>
        <p:nvSpPr>
          <p:cNvPr id="45" name="文本框 44"/>
          <p:cNvSpPr txBox="1"/>
          <p:nvPr/>
        </p:nvSpPr>
        <p:spPr>
          <a:xfrm>
            <a:off x="5074920" y="2011680"/>
            <a:ext cx="182880" cy="0"/>
          </a:xfrm>
          <a:prstGeom prst="rect">
            <a:avLst/>
          </a:prstGeom>
        </p:spPr>
        <p:txBody>
          <a:bodyPr/>
          <a:lstStyle/>
        </p:txBody>
      </p:sp>
      <p:sp>
        <p:nvSpPr>
          <p:cNvPr id="46" name="文本框 45"/>
          <p:cNvSpPr txBox="1"/>
          <p:nvPr/>
        </p:nvSpPr>
        <p:spPr>
          <a:xfrm>
            <a:off x="274320" y="4846320"/>
            <a:ext cx="36576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F5A623"/>
                </a:solidFill>
              </a:rPr>
              <a:t>Member 1: Smart Contracts &amp; ZK Circuits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4114800" y="4846320"/>
            <a:ext cx="32004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F5A623"/>
                </a:solidFill>
              </a:rPr>
              <a:t>Member 2: Frontend &amp; Integration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6400800" y="4846320"/>
            <a:ext cx="2560320" cy="182880"/>
          </a:xfrm>
          <a:prstGeom prst="rect">
            <a:avLst/>
          </a:prstGeom>
        </p:spPr>
        <p:txBody>
          <a:bodyPr/>
          <a:lstStyle/>
          <a:p>
            <a:pPr algn="r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Architecture v1.0 • opBNB Testnet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ON-CHAIN REPUTATION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64008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Credit Tier 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5A623"/>
                </a:solidFill>
              </a:rPr>
              <a:t>System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75120" y="502920"/>
            <a:ext cx="219456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6" name="文本框 5"/>
          <p:cNvSpPr txBox="1"/>
          <p:nvPr/>
        </p:nvSpPr>
        <p:spPr>
          <a:xfrm>
            <a:off x="6675120" y="502920"/>
            <a:ext cx="219456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Auto-updated via ZK Proofs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2880" y="1417320"/>
            <a:ext cx="2103120" cy="3566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8" name="文本框 7"/>
          <p:cNvSpPr txBox="1"/>
          <p:nvPr/>
        </p:nvSpPr>
        <p:spPr>
          <a:xfrm>
            <a:off x="320040" y="1828800"/>
            <a:ext cx="18288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TIER 0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0040" y="2011680"/>
            <a:ext cx="1828800" cy="34747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600">
                <a:latin charset="0" typeface="PingFang SC"/>
                <a:ea charset="0" typeface="PingFang SC"/>
                <a:solidFill>
                  <a:srgbClr val="FFFFFF"/>
                </a:solidFill>
              </a:rPr>
              <a:t>Entry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0040" y="2404872"/>
            <a:ext cx="18288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SCORE RANGE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20040" y="2587752"/>
            <a:ext cx="182880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FFFFFF"/>
                </a:solidFill>
              </a:rPr>
              <a:t>0 – 199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0040" y="2953512"/>
            <a:ext cx="18288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COLLATERAL RATIO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20040" y="3136392"/>
            <a:ext cx="1828800" cy="47548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200">
                <a:latin charset="0" typeface="PingFang SC"/>
                <a:ea charset="0" typeface="PingFang SC"/>
                <a:solidFill>
                  <a:srgbClr val="F5A623"/>
                </a:solidFill>
              </a:rPr>
              <a:t>150%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20040" y="3657600"/>
            <a:ext cx="18288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Standard DeFi Rate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20040" y="3995928"/>
            <a:ext cx="182880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Sybil Resistant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20040" y="4270248"/>
            <a:ext cx="182880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Basic Access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423160" y="1417320"/>
            <a:ext cx="2103120" cy="3566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8" name="文本框 17"/>
          <p:cNvSpPr txBox="1"/>
          <p:nvPr/>
        </p:nvSpPr>
        <p:spPr>
          <a:xfrm>
            <a:off x="2560320" y="1828800"/>
            <a:ext cx="18288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TIER 1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560320" y="2011680"/>
            <a:ext cx="1828800" cy="34747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600">
                <a:latin charset="0" typeface="PingFang SC"/>
                <a:ea charset="0" typeface="PingFang SC"/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560320" y="2404872"/>
            <a:ext cx="18288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SCORE RANGE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560320" y="2587752"/>
            <a:ext cx="182880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FFFFFF"/>
                </a:solidFill>
              </a:rPr>
              <a:t>200 – 499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560320" y="2953512"/>
            <a:ext cx="18288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COLLATERAL RATIO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560320" y="3136392"/>
            <a:ext cx="1828800" cy="47548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200">
                <a:latin charset="0" typeface="PingFang SC"/>
                <a:ea charset="0" typeface="PingFang SC"/>
                <a:solidFill>
                  <a:srgbClr val="F5A623"/>
                </a:solidFill>
              </a:rPr>
              <a:t>135%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560320" y="3657600"/>
            <a:ext cx="18288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↓ 10% Savings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560320" y="3995928"/>
            <a:ext cx="182880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Verified History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560320" y="4270248"/>
            <a:ext cx="182880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Reduced Rates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663440" y="1417320"/>
            <a:ext cx="2103120" cy="3566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8" name="文本框 27"/>
          <p:cNvSpPr txBox="1"/>
          <p:nvPr/>
        </p:nvSpPr>
        <p:spPr>
          <a:xfrm>
            <a:off x="4800600" y="1828800"/>
            <a:ext cx="18288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TIER 2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800600" y="2011680"/>
            <a:ext cx="1828800" cy="34747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600">
                <a:latin charset="0" typeface="PingFang SC"/>
                <a:ea charset="0" typeface="PingFang SC"/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800600" y="2404872"/>
            <a:ext cx="18288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SCORE RANGE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800600" y="2587752"/>
            <a:ext cx="182880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FFFFFF"/>
                </a:solidFill>
              </a:rPr>
              <a:t>500 – 749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800600" y="2953512"/>
            <a:ext cx="18288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COLLATERAL RATIO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4800600" y="3136392"/>
            <a:ext cx="1828800" cy="47548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200">
                <a:latin charset="0" typeface="PingFang SC"/>
                <a:ea charset="0" typeface="PingFang SC"/>
                <a:solidFill>
                  <a:srgbClr val="F5A623"/>
                </a:solidFill>
              </a:rPr>
              <a:t>125%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4800600" y="3657600"/>
            <a:ext cx="18288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↓ 16% Savings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800600" y="3995928"/>
            <a:ext cx="182880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Established User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800600" y="4270248"/>
            <a:ext cx="182880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Priority Pool Access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675120" y="1234440"/>
            <a:ext cx="2240280" cy="3749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8" name="文本框 37"/>
          <p:cNvSpPr txBox="1"/>
          <p:nvPr/>
        </p:nvSpPr>
        <p:spPr>
          <a:xfrm>
            <a:off x="7863840" y="1307592"/>
            <a:ext cx="960120" cy="256032"/>
          </a:xfrm>
          <a:prstGeom prst="rect">
            <a:avLst/>
          </a:prstGeom>
        </p:spPr>
        <p:txBody>
          <a:bodyPr/>
          <a:lstStyle/>
        </p:txBody>
      </p:sp>
      <p:sp>
        <p:nvSpPr>
          <p:cNvPr id="39" name="文本框 38"/>
          <p:cNvSpPr txBox="1"/>
          <p:nvPr/>
        </p:nvSpPr>
        <p:spPr>
          <a:xfrm>
            <a:off x="7863840" y="1307592"/>
            <a:ext cx="960120" cy="256032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700">
                <a:latin charset="0" typeface="PingFang SC"/>
                <a:ea charset="0" typeface="PingFang SC"/>
                <a:solidFill>
                  <a:srgbClr val="000000"/>
                </a:solidFill>
              </a:rPr>
              <a:t>MAX EFFICIENCY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812280" y="1645920"/>
            <a:ext cx="196596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TIER 3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812280" y="1828800"/>
            <a:ext cx="1965960" cy="34747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800">
                <a:latin charset="0" typeface="PingFang SC"/>
                <a:ea charset="0" typeface="PingFang SC"/>
                <a:solidFill>
                  <a:srgbClr val="FFFFFF"/>
                </a:solidFill>
              </a:rPr>
              <a:t>Gold Elite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812280" y="2221992"/>
            <a:ext cx="196596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SCORE RANGE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812280" y="2404872"/>
            <a:ext cx="196596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FFFFFF"/>
                </a:solidFill>
              </a:rPr>
              <a:t>750+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812280" y="2770632"/>
            <a:ext cx="196596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COLLATERAL RATIO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812280" y="2953512"/>
            <a:ext cx="1965960" cy="47548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200">
                <a:latin charset="0" typeface="PingFang SC"/>
                <a:ea charset="0" typeface="PingFang SC"/>
                <a:solidFill>
                  <a:srgbClr val="F5A623"/>
                </a:solidFill>
              </a:rPr>
              <a:t>110%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6812280" y="3474720"/>
            <a:ext cx="196596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4CAF50"/>
                </a:solidFill>
              </a:rPr>
              <a:t>↑ 26% Cap Efficiency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6812280" y="3813048"/>
            <a:ext cx="196596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Lowest Market Rate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6812280" y="4087368"/>
            <a:ext cx="196596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Instant Liquidation Buffer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812280" y="4361688"/>
            <a:ext cx="1965960" cy="237744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✓ Governance Weight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VALUE PROPOSITION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54864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Capital 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5A623"/>
                </a:solidFill>
              </a:rPr>
              <a:t>Efficiency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200" y="1143000"/>
            <a:ext cx="54864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200">
                <a:latin charset="0" typeface="PingFang SC"/>
                <a:ea charset="0" typeface="PingFang SC"/>
                <a:solidFill>
                  <a:srgbClr val="AAAAAA"/>
                </a:solidFill>
              </a:rPr>
              <a:t>Stop locking dead capital. Use your reputation to unlock liquidity.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315200" y="502920"/>
            <a:ext cx="1600200" cy="6400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7" name="文本框 6"/>
          <p:cNvSpPr txBox="1"/>
          <p:nvPr/>
        </p:nvSpPr>
        <p:spPr>
          <a:xfrm>
            <a:off x="7315200" y="548640"/>
            <a:ext cx="1600200" cy="18288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EFFICIENCY GAIN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15200" y="731520"/>
            <a:ext cx="160020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800">
                <a:latin charset="0" typeface="PingFang SC"/>
                <a:ea charset="0" typeface="PingFang SC"/>
                <a:solidFill>
                  <a:srgbClr val="F5A623"/>
                </a:solidFill>
              </a:rPr>
              <a:t>+26.7%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4320" y="1508760"/>
            <a:ext cx="4114800" cy="33832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0" name="文本框 9"/>
          <p:cNvSpPr txBox="1"/>
          <p:nvPr/>
        </p:nvSpPr>
        <p:spPr>
          <a:xfrm>
            <a:off x="411480" y="1600200"/>
            <a:ext cx="384048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100">
                <a:latin charset="0" typeface="PingFang SC"/>
                <a:ea charset="0" typeface="PingFang SC"/>
                <a:solidFill>
                  <a:srgbClr val="FFFFFF"/>
                </a:solidFill>
              </a:rPr>
              <a:t>Collateral Required (100 BNB Loan)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11480" y="1938528"/>
            <a:ext cx="109728" cy="109728"/>
          </a:xfrm>
          <a:prstGeom prst="rect">
            <a:avLst/>
          </a:prstGeom>
        </p:spPr>
        <p:txBody>
          <a:bodyPr/>
          <a:lstStyle/>
        </p:txBody>
      </p:sp>
      <p:sp>
        <p:nvSpPr>
          <p:cNvPr id="12" name="文本框 11"/>
          <p:cNvSpPr txBox="1"/>
          <p:nvPr/>
        </p:nvSpPr>
        <p:spPr>
          <a:xfrm>
            <a:off x="566928" y="1892808"/>
            <a:ext cx="13716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Traditional DeFi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011680" y="1938528"/>
            <a:ext cx="109728" cy="109728"/>
          </a:xfrm>
          <a:prstGeom prst="rect">
            <a:avLst/>
          </a:prstGeom>
        </p:spPr>
        <p:txBody>
          <a:bodyPr/>
          <a:lstStyle/>
        </p:txBody>
      </p:sp>
      <p:sp>
        <p:nvSpPr>
          <p:cNvPr id="14" name="文本框 13"/>
          <p:cNvSpPr txBox="1"/>
          <p:nvPr/>
        </p:nvSpPr>
        <p:spPr>
          <a:xfrm>
            <a:off x="2167128" y="1892808"/>
            <a:ext cx="13716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CredLink Tier 3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22960" y="2423160"/>
            <a:ext cx="1097280" cy="20116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6" name="文本框 15"/>
          <p:cNvSpPr txBox="1"/>
          <p:nvPr/>
        </p:nvSpPr>
        <p:spPr>
          <a:xfrm>
            <a:off x="822960" y="2286000"/>
            <a:ext cx="1097280" cy="22860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E53935"/>
                </a:solidFill>
              </a:rPr>
              <a:t>150 BNB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85800" y="2450592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FFFFFF"/>
                </a:solidFill>
              </a:rPr>
              <a:t>150% Ratio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560320" y="2761488"/>
            <a:ext cx="1097280" cy="1673352"/>
          </a:xfrm>
          <a:prstGeom prst="rect">
            <a:avLst/>
          </a:prstGeom>
        </p:spPr>
        <p:txBody>
          <a:bodyPr/>
          <a:lstStyle/>
        </p:txBody>
      </p:sp>
      <p:sp>
        <p:nvSpPr>
          <p:cNvPr id="19" name="文本框 18"/>
          <p:cNvSpPr txBox="1"/>
          <p:nvPr/>
        </p:nvSpPr>
        <p:spPr>
          <a:xfrm>
            <a:off x="2560320" y="2624328"/>
            <a:ext cx="1097280" cy="22860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5A623"/>
                </a:solidFill>
              </a:rPr>
              <a:t>110 BNB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468880" y="2697480"/>
            <a:ext cx="1371600" cy="274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1" name="文本框 20"/>
          <p:cNvSpPr txBox="1"/>
          <p:nvPr/>
        </p:nvSpPr>
        <p:spPr>
          <a:xfrm>
            <a:off x="2468880" y="2697480"/>
            <a:ext cx="137160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000000"/>
                </a:solidFill>
              </a:rPr>
              <a:t>Save 40 BNB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40080" y="4526280"/>
            <a:ext cx="1463040" cy="22860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Traditional DeFi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377440" y="4526280"/>
            <a:ext cx="1463040" cy="22860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CredLink ZK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663440" y="1508760"/>
            <a:ext cx="4206240" cy="1417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5" name="文本框 24"/>
          <p:cNvSpPr txBox="1"/>
          <p:nvPr/>
        </p:nvSpPr>
        <p:spPr>
          <a:xfrm>
            <a:off x="4800600" y="1572768"/>
            <a:ext cx="18288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THE SCENARIO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800600" y="1755648"/>
            <a:ext cx="393192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FFFFFF"/>
                </a:solidFill>
              </a:rPr>
              <a:t>Borrowing 100 BNB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800600" y="2148840"/>
            <a:ext cx="256032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Traditional Protocol (150%)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132320" y="2148840"/>
            <a:ext cx="1645920" cy="228600"/>
          </a:xfrm>
          <a:prstGeom prst="rect">
            <a:avLst/>
          </a:prstGeom>
        </p:spPr>
        <p:txBody>
          <a:bodyPr/>
          <a:lstStyle/>
          <a:p>
            <a:pPr algn="r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E53935"/>
                </a:solidFill>
              </a:rPr>
              <a:t>150 BNB Locked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800600" y="2423160"/>
            <a:ext cx="3931920" cy="73152"/>
          </a:xfrm>
          <a:prstGeom prst="rect">
            <a:avLst/>
          </a:prstGeom>
        </p:spPr>
        <p:txBody>
          <a:bodyPr/>
          <a:lstStyle/>
        </p:txBody>
      </p:sp>
      <p:sp>
        <p:nvSpPr>
          <p:cNvPr id="30" name="文本框 29"/>
          <p:cNvSpPr txBox="1"/>
          <p:nvPr/>
        </p:nvSpPr>
        <p:spPr>
          <a:xfrm>
            <a:off x="4800600" y="2578608"/>
            <a:ext cx="256032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CredLink Tier 3 (110%)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132320" y="2578608"/>
            <a:ext cx="1645920" cy="228600"/>
          </a:xfrm>
          <a:prstGeom prst="rect">
            <a:avLst/>
          </a:prstGeom>
        </p:spPr>
        <p:txBody>
          <a:bodyPr/>
          <a:lstStyle/>
          <a:p>
            <a:pPr algn="r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5A623"/>
                </a:solidFill>
              </a:rPr>
              <a:t>110 BNB Locked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800600" y="2852928"/>
            <a:ext cx="2743200" cy="73152"/>
          </a:xfrm>
          <a:prstGeom prst="rect">
            <a:avLst/>
          </a:prstGeom>
        </p:spPr>
        <p:txBody>
          <a:bodyPr/>
          <a:lstStyle/>
        </p:txBody>
      </p:sp>
      <p:sp>
        <p:nvSpPr>
          <p:cNvPr id="33" name="文本框 32"/>
          <p:cNvSpPr txBox="1"/>
          <p:nvPr/>
        </p:nvSpPr>
        <p:spPr>
          <a:xfrm>
            <a:off x="4663440" y="3063240"/>
            <a:ext cx="4206240" cy="18288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4" name="文本框 33"/>
          <p:cNvSpPr txBox="1"/>
          <p:nvPr/>
        </p:nvSpPr>
        <p:spPr>
          <a:xfrm>
            <a:off x="4800600" y="3154680"/>
            <a:ext cx="39319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FFFFF"/>
                </a:solidFill>
              </a:rPr>
              <a:t>Opportunity Cost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800600" y="3493008"/>
            <a:ext cx="3931920" cy="4114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The 40 BNB you save isn't just 'saved' - it's liquidity you can deploy elsewhere.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663440" y="4041648"/>
            <a:ext cx="4206240" cy="5029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7" name="文本框 36"/>
          <p:cNvSpPr txBox="1"/>
          <p:nvPr/>
        </p:nvSpPr>
        <p:spPr>
          <a:xfrm>
            <a:off x="4754880" y="4087368"/>
            <a:ext cx="4023360" cy="4114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4CAF50"/>
                </a:solidFill>
              </a:rPr>
              <a:t>YIELD POTENTIAL — Stake saved 40 BNB @ 5% APY → +2 BNB / Year Extra Profit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UNDER THE HOOD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64008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Technology 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5A623"/>
                </a:solidFill>
              </a:rPr>
              <a:t>Stack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32320" y="548640"/>
            <a:ext cx="173736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6" name="文本框 5"/>
          <p:cNvSpPr txBox="1"/>
          <p:nvPr/>
        </p:nvSpPr>
        <p:spPr>
          <a:xfrm>
            <a:off x="7132320" y="548640"/>
            <a:ext cx="173736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MIT License  ⊙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2880" y="1371600"/>
            <a:ext cx="2788920" cy="15087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8" name="文本框 7"/>
          <p:cNvSpPr txBox="1"/>
          <p:nvPr/>
        </p:nvSpPr>
        <p:spPr>
          <a:xfrm>
            <a:off x="292608" y="148132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356616" y="1545336"/>
            <a:ext cx="347472" cy="347472"/>
          </a:xfrm>
          <a:prstGeom prst="rect">
            <a:avLst/>
          </a:prstGeom>
        </p:sp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10" name="文本框 9"/>
          <p:cNvSpPr txBox="1"/>
          <p:nvPr/>
        </p:nvSpPr>
        <p:spPr>
          <a:xfrm>
            <a:off x="292608" y="2011680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Smart Contracts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92608" y="2304288"/>
            <a:ext cx="2560320" cy="4572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Core logic for credit scoring, lending pool, and collateral management.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2608" y="2761488"/>
            <a:ext cx="121158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13" name="文本框 12"/>
          <p:cNvSpPr txBox="1"/>
          <p:nvPr/>
        </p:nvSpPr>
        <p:spPr>
          <a:xfrm>
            <a:off x="292608" y="2761488"/>
            <a:ext cx="121158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Solidity 0.8.20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77340" y="2761488"/>
            <a:ext cx="100584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15" name="文本框 14"/>
          <p:cNvSpPr txBox="1"/>
          <p:nvPr/>
        </p:nvSpPr>
        <p:spPr>
          <a:xfrm>
            <a:off x="1577340" y="2761488"/>
            <a:ext cx="100584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OpenZeppelin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656332" y="2761488"/>
            <a:ext cx="66294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17" name="文本框 16"/>
          <p:cNvSpPr txBox="1"/>
          <p:nvPr/>
        </p:nvSpPr>
        <p:spPr>
          <a:xfrm>
            <a:off x="2656332" y="2761488"/>
            <a:ext cx="66294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Hardhat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154680" y="1371600"/>
            <a:ext cx="2788920" cy="15087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9" name="文本框 18"/>
          <p:cNvSpPr txBox="1"/>
          <p:nvPr/>
        </p:nvSpPr>
        <p:spPr>
          <a:xfrm>
            <a:off x="3264408" y="148132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3328416" y="1545336"/>
            <a:ext cx="347472" cy="347472"/>
          </a:xfrm>
          <a:prstGeom prst="rect">
            <a:avLst/>
          </a:prstGeom>
        </p:sp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21" name="文本框 20"/>
          <p:cNvSpPr txBox="1"/>
          <p:nvPr/>
        </p:nvSpPr>
        <p:spPr>
          <a:xfrm>
            <a:off x="3264408" y="2011680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ZK Privacy Layer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264408" y="2304288"/>
            <a:ext cx="2560320" cy="4572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Generates and verifies cryptographic proofs of financial behavior off-chain.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264408" y="2761488"/>
            <a:ext cx="86868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24" name="文本框 23"/>
          <p:cNvSpPr txBox="1"/>
          <p:nvPr/>
        </p:nvSpPr>
        <p:spPr>
          <a:xfrm>
            <a:off x="3264408" y="2761488"/>
            <a:ext cx="86868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Circom 2.0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206240" y="2761488"/>
            <a:ext cx="66294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26" name="文本框 25"/>
          <p:cNvSpPr txBox="1"/>
          <p:nvPr/>
        </p:nvSpPr>
        <p:spPr>
          <a:xfrm>
            <a:off x="4206240" y="2761488"/>
            <a:ext cx="66294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Groth16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942332" y="2761488"/>
            <a:ext cx="66294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28" name="文本框 27"/>
          <p:cNvSpPr txBox="1"/>
          <p:nvPr/>
        </p:nvSpPr>
        <p:spPr>
          <a:xfrm>
            <a:off x="4942332" y="2761488"/>
            <a:ext cx="66294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SnarkJS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126480" y="1371600"/>
            <a:ext cx="2788920" cy="15087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0" name="文本框 29"/>
          <p:cNvSpPr txBox="1"/>
          <p:nvPr/>
        </p:nvSpPr>
        <p:spPr>
          <a:xfrm>
            <a:off x="6236208" y="148132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6300216" y="1545336"/>
            <a:ext cx="347472" cy="347472"/>
          </a:xfrm>
          <a:prstGeom prst="rect">
            <a:avLst/>
          </a:prstGeom>
        </p:sp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32" name="文本框 31"/>
          <p:cNvSpPr txBox="1"/>
          <p:nvPr/>
        </p:nvSpPr>
        <p:spPr>
          <a:xfrm>
            <a:off x="6236208" y="2011680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236208" y="2304288"/>
            <a:ext cx="2560320" cy="4572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High-throughput blockchain layer and scalable deployment environment.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236208" y="2761488"/>
            <a:ext cx="107442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35" name="文本框 34"/>
          <p:cNvSpPr txBox="1"/>
          <p:nvPr/>
        </p:nvSpPr>
        <p:spPr>
          <a:xfrm>
            <a:off x="6236208" y="2761488"/>
            <a:ext cx="107442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opBNB Testnet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383780" y="2761488"/>
            <a:ext cx="59436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37" name="文本框 36"/>
          <p:cNvSpPr txBox="1"/>
          <p:nvPr/>
        </p:nvSpPr>
        <p:spPr>
          <a:xfrm>
            <a:off x="7383780" y="2761488"/>
            <a:ext cx="59436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Vercel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051292" y="2761488"/>
            <a:ext cx="59436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39" name="文本框 38"/>
          <p:cNvSpPr txBox="1"/>
          <p:nvPr/>
        </p:nvSpPr>
        <p:spPr>
          <a:xfrm>
            <a:off x="8051292" y="2761488"/>
            <a:ext cx="59436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Render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82880" y="3017520"/>
            <a:ext cx="2788920" cy="15087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41" name="文本框 40"/>
          <p:cNvSpPr txBox="1"/>
          <p:nvPr/>
        </p:nvSpPr>
        <p:spPr>
          <a:xfrm>
            <a:off x="292608" y="312724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356616" y="3191256"/>
            <a:ext cx="347472" cy="347472"/>
          </a:xfrm>
          <a:prstGeom prst="rect">
            <a:avLst/>
          </a:prstGeom>
        </p:sp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43" name="文本框 42"/>
          <p:cNvSpPr txBox="1"/>
          <p:nvPr/>
        </p:nvSpPr>
        <p:spPr>
          <a:xfrm>
            <a:off x="292608" y="3657600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292608" y="3950208"/>
            <a:ext cx="2560320" cy="4572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Responsive dApp interface with seamless wallet connection and proof generation.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292608" y="4407408"/>
            <a:ext cx="86868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46" name="文本框 45"/>
          <p:cNvSpPr txBox="1"/>
          <p:nvPr/>
        </p:nvSpPr>
        <p:spPr>
          <a:xfrm>
            <a:off x="292608" y="4407408"/>
            <a:ext cx="86868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Next.js 14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1234440" y="4407408"/>
            <a:ext cx="86868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48" name="文本框 47"/>
          <p:cNvSpPr txBox="1"/>
          <p:nvPr/>
        </p:nvSpPr>
        <p:spPr>
          <a:xfrm>
            <a:off x="1234440" y="4407408"/>
            <a:ext cx="86868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Wagmi/Viem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2176272" y="4407408"/>
            <a:ext cx="73152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50" name="文本框 49"/>
          <p:cNvSpPr txBox="1"/>
          <p:nvPr/>
        </p:nvSpPr>
        <p:spPr>
          <a:xfrm>
            <a:off x="2176272" y="4407408"/>
            <a:ext cx="73152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Tailwind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3154680" y="3017520"/>
            <a:ext cx="2788920" cy="15087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52" name="文本框 51"/>
          <p:cNvSpPr txBox="1"/>
          <p:nvPr/>
        </p:nvSpPr>
        <p:spPr>
          <a:xfrm>
            <a:off x="3264408" y="312724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3328416" y="3191256"/>
            <a:ext cx="347472" cy="347472"/>
          </a:xfrm>
          <a:prstGeom prst="rect">
            <a:avLst/>
          </a:prstGeom>
        </p:sp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54" name="文本框 53"/>
          <p:cNvSpPr txBox="1"/>
          <p:nvPr/>
        </p:nvSpPr>
        <p:spPr>
          <a:xfrm>
            <a:off x="3264408" y="3657600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3264408" y="3950208"/>
            <a:ext cx="2560320" cy="4572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Handles off-chain data fetching, caching, and AI service coordination.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264408" y="4407408"/>
            <a:ext cx="86868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57" name="文本框 56"/>
          <p:cNvSpPr txBox="1"/>
          <p:nvPr/>
        </p:nvSpPr>
        <p:spPr>
          <a:xfrm>
            <a:off x="3264408" y="4407408"/>
            <a:ext cx="86868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Express.js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4206240" y="4407408"/>
            <a:ext cx="80010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59" name="文本框 58"/>
          <p:cNvSpPr txBox="1"/>
          <p:nvPr/>
        </p:nvSpPr>
        <p:spPr>
          <a:xfrm>
            <a:off x="4206240" y="4407408"/>
            <a:ext cx="80010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Ethers v6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5079492" y="4407408"/>
            <a:ext cx="66294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61" name="文本框 60"/>
          <p:cNvSpPr txBox="1"/>
          <p:nvPr/>
        </p:nvSpPr>
        <p:spPr>
          <a:xfrm>
            <a:off x="5079492" y="4407408"/>
            <a:ext cx="66294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Node.js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126480" y="3017520"/>
            <a:ext cx="2788920" cy="15087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63" name="文本框 62"/>
          <p:cNvSpPr txBox="1"/>
          <p:nvPr/>
        </p:nvSpPr>
        <p:spPr>
          <a:xfrm>
            <a:off x="6236208" y="3127248"/>
            <a:ext cx="475488" cy="475488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6300216" y="3191256"/>
            <a:ext cx="347472" cy="347472"/>
          </a:xfrm>
          <a:prstGeom prst="rect">
            <a:avLst/>
          </a:prstGeom>
        </p:sp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65" name="文本框 64"/>
          <p:cNvSpPr txBox="1"/>
          <p:nvPr/>
        </p:nvSpPr>
        <p:spPr>
          <a:xfrm>
            <a:off x="6236208" y="3657600"/>
            <a:ext cx="25603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AI Advisor  🆕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236208" y="3950208"/>
            <a:ext cx="2560320" cy="4572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Provides plain-English risk explanations and anomaly detection.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6236208" y="4407408"/>
            <a:ext cx="73152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68" name="文本框 67"/>
          <p:cNvSpPr txBox="1"/>
          <p:nvPr/>
        </p:nvSpPr>
        <p:spPr>
          <a:xfrm>
            <a:off x="6236208" y="4407408"/>
            <a:ext cx="73152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Groq SDK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7040880" y="4407408"/>
            <a:ext cx="66294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70" name="文本框 69"/>
          <p:cNvSpPr txBox="1"/>
          <p:nvPr/>
        </p:nvSpPr>
        <p:spPr>
          <a:xfrm>
            <a:off x="7040880" y="4407408"/>
            <a:ext cx="66294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Llama 3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7776972" y="4407408"/>
            <a:ext cx="93726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72" name="文本框 71"/>
          <p:cNvSpPr txBox="1"/>
          <p:nvPr/>
        </p:nvSpPr>
        <p:spPr>
          <a:xfrm>
            <a:off x="7776972" y="4407408"/>
            <a:ext cx="93726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Risk Models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274320" y="4846320"/>
            <a:ext cx="45720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Designed for scalability and privacy-first performance.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6400800" y="4846320"/>
            <a:ext cx="2560320" cy="182880"/>
          </a:xfrm>
          <a:prstGeom prst="rect">
            <a:avLst/>
          </a:prstGeom>
        </p:spPr>
        <p:txBody>
          <a:bodyPr/>
          <a:lstStyle/>
          <a:p>
            <a:pPr algn="r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Build ID: 2026-02-28-v1.0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LIVE ENVIRONMENT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64008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Demo &amp; 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5A623"/>
                </a:solidFill>
              </a:rPr>
              <a:t>Deployment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00800" y="548640"/>
            <a:ext cx="137160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6" name="文本框 5"/>
          <p:cNvSpPr txBox="1"/>
          <p:nvPr/>
        </p:nvSpPr>
        <p:spPr>
          <a:xfrm>
            <a:off x="6400800" y="548640"/>
            <a:ext cx="137160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4CAF50"/>
                </a:solidFill>
              </a:rPr>
              <a:t>● opBNB Testnet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909560" y="548640"/>
            <a:ext cx="10058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8" name="文本框 7"/>
          <p:cNvSpPr txBox="1"/>
          <p:nvPr/>
        </p:nvSpPr>
        <p:spPr>
          <a:xfrm>
            <a:off x="7909560" y="548640"/>
            <a:ext cx="100584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Chain ID  5611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82880" y="1280160"/>
            <a:ext cx="2743200" cy="1280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0" name="文本框 9"/>
          <p:cNvSpPr txBox="1"/>
          <p:nvPr/>
        </p:nvSpPr>
        <p:spPr>
          <a:xfrm>
            <a:off x="2286000" y="1325880"/>
            <a:ext cx="54864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11" name="文本框 10"/>
          <p:cNvSpPr txBox="1"/>
          <p:nvPr/>
        </p:nvSpPr>
        <p:spPr>
          <a:xfrm>
            <a:off x="2286000" y="1325880"/>
            <a:ext cx="54864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4CAF50"/>
                </a:solidFill>
              </a:rPr>
              <a:t>● ONLINE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20040" y="1371600"/>
            <a:ext cx="18288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Frontend App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20040" y="1664208"/>
            <a:ext cx="256032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https://credlink-zk.vercel.app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20040" y="1920240"/>
            <a:ext cx="2286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Launch Dashboard ↗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063240" y="1280160"/>
            <a:ext cx="2743200" cy="1280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6" name="文本框 15"/>
          <p:cNvSpPr txBox="1"/>
          <p:nvPr/>
        </p:nvSpPr>
        <p:spPr>
          <a:xfrm>
            <a:off x="5166360" y="1325880"/>
            <a:ext cx="548640" cy="201168"/>
          </a:xfrm>
          <a:prstGeom prst="rect">
            <a:avLst/>
          </a:prstGeom>
        </p:spPr>
        <p:txBody>
          <a:bodyPr/>
          <a:lstStyle/>
        </p:txBody>
      </p:sp>
      <p:sp>
        <p:nvSpPr>
          <p:cNvPr id="17" name="文本框 16"/>
          <p:cNvSpPr txBox="1"/>
          <p:nvPr/>
        </p:nvSpPr>
        <p:spPr>
          <a:xfrm>
            <a:off x="5166360" y="1325880"/>
            <a:ext cx="54864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4CAF50"/>
                </a:solidFill>
              </a:rPr>
              <a:t>● ACTIVE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200400" y="1371600"/>
            <a:ext cx="18288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API Server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200400" y="1664208"/>
            <a:ext cx="256032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https://api.credlink-zk.onrender.com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200400" y="1920240"/>
            <a:ext cx="2286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View Swagger Docs ↗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82880" y="2697480"/>
            <a:ext cx="5623560" cy="18288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2" name="文本框 21"/>
          <p:cNvSpPr txBox="1"/>
          <p:nvPr/>
        </p:nvSpPr>
        <p:spPr>
          <a:xfrm>
            <a:off x="320040" y="278892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Deployed Contracts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20040" y="3127248"/>
            <a:ext cx="22860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CreditScoreZK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651760" y="3127248"/>
            <a:ext cx="22860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0x71C...9A21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303520" y="3127248"/>
            <a:ext cx="36576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200">
                <a:latin charset="0" typeface="PingFang SC"/>
                <a:ea charset="0" typeface="PingFang SC"/>
                <a:solidFill>
                  <a:srgbClr val="F5A623"/>
                </a:solidFill>
              </a:rPr>
              <a:t>↗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20040" y="3429000"/>
            <a:ext cx="22860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LendingPool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2651760" y="3429000"/>
            <a:ext cx="22860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0x84F...3D92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303520" y="3429000"/>
            <a:ext cx="36576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200">
                <a:latin charset="0" typeface="PingFang SC"/>
                <a:ea charset="0" typeface="PingFang SC"/>
                <a:solidFill>
                  <a:srgbClr val="F5A623"/>
                </a:solidFill>
              </a:rPr>
              <a:t>↗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20040" y="3730752"/>
            <a:ext cx="22860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CollateralManager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651760" y="3730752"/>
            <a:ext cx="22860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0x29A...1E45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303520" y="3730752"/>
            <a:ext cx="36576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200">
                <a:latin charset="0" typeface="PingFang SC"/>
                <a:ea charset="0" typeface="PingFang SC"/>
                <a:solidFill>
                  <a:srgbClr val="F5A623"/>
                </a:solidFill>
              </a:rPr>
              <a:t>↗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20040" y="4032504"/>
            <a:ext cx="22860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ZKVerifier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651760" y="4032504"/>
            <a:ext cx="228600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0x88C...B109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303520" y="4032504"/>
            <a:ext cx="365760" cy="256032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200">
                <a:latin charset="0" typeface="PingFang SC"/>
                <a:ea charset="0" typeface="PingFang SC"/>
                <a:solidFill>
                  <a:srgbClr val="F5A623"/>
                </a:solidFill>
              </a:rPr>
              <a:t>↗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943600" y="1280160"/>
            <a:ext cx="3017520" cy="32461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6" name="文本框 35"/>
          <p:cNvSpPr txBox="1"/>
          <p:nvPr/>
        </p:nvSpPr>
        <p:spPr>
          <a:xfrm>
            <a:off x="6080760" y="1371600"/>
            <a:ext cx="274320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FFFFFF"/>
                </a:solidFill>
              </a:rPr>
              <a:t>User Flow Demo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080760" y="1828800"/>
            <a:ext cx="274320" cy="274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8" name="文本框 37"/>
          <p:cNvSpPr txBox="1"/>
          <p:nvPr/>
        </p:nvSpPr>
        <p:spPr>
          <a:xfrm>
            <a:off x="6080760" y="1828800"/>
            <a:ext cx="27432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446520" y="1828800"/>
            <a:ext cx="237744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Connect Wallet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446520" y="2029968"/>
            <a:ext cx="237744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MetaMask connects to opBNB. Dashboard fetches initial data.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080760" y="2468880"/>
            <a:ext cx="274320" cy="274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42" name="文本框 41"/>
          <p:cNvSpPr txBox="1"/>
          <p:nvPr/>
        </p:nvSpPr>
        <p:spPr>
          <a:xfrm>
            <a:off x="6080760" y="2468880"/>
            <a:ext cx="27432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6446520" y="2468880"/>
            <a:ext cx="237744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Generate ZK Proof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446520" y="2670048"/>
            <a:ext cx="237744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Local computation of credit score. Zero data leaves the device.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080760" y="3108960"/>
            <a:ext cx="274320" cy="274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46" name="文本框 45"/>
          <p:cNvSpPr txBox="1"/>
          <p:nvPr/>
        </p:nvSpPr>
        <p:spPr>
          <a:xfrm>
            <a:off x="6080760" y="3108960"/>
            <a:ext cx="27432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6446520" y="3108960"/>
            <a:ext cx="237744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Request Loan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6446520" y="3310128"/>
            <a:ext cx="237744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Submit proof on-chain. Unlock Tier 3 collateral rates (110%).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080760" y="3749040"/>
            <a:ext cx="274320" cy="274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50" name="文本框 49"/>
          <p:cNvSpPr txBox="1"/>
          <p:nvPr/>
        </p:nvSpPr>
        <p:spPr>
          <a:xfrm>
            <a:off x="6080760" y="3749040"/>
            <a:ext cx="27432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6446520" y="3749040"/>
            <a:ext cx="237744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Repay &amp; Build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6446520" y="3950208"/>
            <a:ext cx="237744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Return principal + interest. Score updates automatically.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6080760" y="4206240"/>
            <a:ext cx="2743200" cy="4572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54" name="文本框 53"/>
          <p:cNvSpPr txBox="1"/>
          <p:nvPr/>
        </p:nvSpPr>
        <p:spPr>
          <a:xfrm>
            <a:off x="6080760" y="4206240"/>
            <a:ext cx="2743200" cy="45720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000000"/>
                </a:solidFill>
              </a:rPr>
              <a:t>Launch Live App ↗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274320" y="4846320"/>
            <a:ext cx="109728" cy="109728"/>
          </a:xfrm>
          <a:prstGeom prst="rect">
            <a:avLst/>
          </a:prstGeom>
        </p:spPr>
        <p:txBody>
          <a:bodyPr/>
          <a:lstStyle/>
        </p:txBody>
      </p:sp>
      <p:sp>
        <p:nvSpPr>
          <p:cNvPr id="56" name="文本框 55"/>
          <p:cNvSpPr txBox="1"/>
          <p:nvPr/>
        </p:nvSpPr>
        <p:spPr>
          <a:xfrm>
            <a:off x="457200" y="4809744"/>
            <a:ext cx="22860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4CAF50"/>
                </a:solidFill>
              </a:rPr>
              <a:t>System Operational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WHY THIS MATTERS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64008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Market 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5A623"/>
                </a:solidFill>
              </a:rPr>
              <a:t>Opportunity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858000" y="548640"/>
            <a:ext cx="201168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6" name="文本框 5"/>
          <p:cNvSpPr txBox="1"/>
          <p:nvPr/>
        </p:nvSpPr>
        <p:spPr>
          <a:xfrm>
            <a:off x="6858000" y="548640"/>
            <a:ext cx="201168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⊕ Global DeFi Credit Gap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74320" y="1188720"/>
            <a:ext cx="3200400" cy="12801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7200">
                <a:latin charset="0" typeface="PingFang SC"/>
                <a:ea charset="0" typeface="PingFang SC"/>
                <a:solidFill>
                  <a:srgbClr val="F5A623"/>
                </a:solidFill>
              </a:rPr>
              <a:t>600M+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74320" y="2514600"/>
            <a:ext cx="320040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600">
                <a:latin charset="0" typeface="PingFang SC"/>
                <a:ea charset="0" typeface="PingFang SC"/>
                <a:solidFill>
                  <a:srgbClr val="FFFFFF"/>
                </a:solidFill>
              </a:rPr>
              <a:t>Invisible to Banks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4320" y="2880360"/>
            <a:ext cx="3200400" cy="7315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AAAAAA"/>
                </a:solidFill>
              </a:rPr>
              <a:t>Over 600 million individuals globally have no formal credit file, yet generate significant on-chain economic activity. They are the "credit invisible" - until now.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74320" y="3703320"/>
            <a:ext cx="3200400" cy="5486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1" name="文本框 10"/>
          <p:cNvSpPr txBox="1"/>
          <p:nvPr/>
        </p:nvSpPr>
        <p:spPr>
          <a:xfrm>
            <a:off x="365760" y="3703320"/>
            <a:ext cx="3017520" cy="5486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5A623"/>
                </a:solidFill>
              </a:rPr>
              <a:t>THE SOLUTION  —  Wallet History = Credit Score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57600" y="1188720"/>
            <a:ext cx="521208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TARGET USER SEGMENTS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657600" y="1463040"/>
            <a:ext cx="1554480" cy="16002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4" name="文本框 13"/>
          <p:cNvSpPr txBox="1"/>
          <p:nvPr/>
        </p:nvSpPr>
        <p:spPr>
          <a:xfrm>
            <a:off x="3749040" y="1554480"/>
            <a:ext cx="411480" cy="411480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3803904" y="1609344"/>
            <a:ext cx="301752" cy="301752"/>
          </a:xfrm>
          <a:prstGeom prst="rect">
            <a:avLst/>
          </a:prstGeom>
        </p:sp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16" name="文本框 15"/>
          <p:cNvSpPr txBox="1"/>
          <p:nvPr/>
        </p:nvSpPr>
        <p:spPr>
          <a:xfrm>
            <a:off x="3749040" y="2029968"/>
            <a:ext cx="13716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DeFi Power Users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749040" y="2331720"/>
            <a:ext cx="1371600" cy="5486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Seek leverage without exposing trading strategies to MEV bots.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486400" y="1463040"/>
            <a:ext cx="1554480" cy="16002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9" name="文本框 18"/>
          <p:cNvSpPr txBox="1"/>
          <p:nvPr/>
        </p:nvSpPr>
        <p:spPr>
          <a:xfrm>
            <a:off x="5577840" y="1554480"/>
            <a:ext cx="411480" cy="411480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5632704" y="1609344"/>
            <a:ext cx="301752" cy="301752"/>
          </a:xfrm>
          <a:prstGeom prst="rect">
            <a:avLst/>
          </a:prstGeom>
        </p:sp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21" name="文本框 20"/>
          <p:cNvSpPr txBox="1"/>
          <p:nvPr/>
        </p:nvSpPr>
        <p:spPr>
          <a:xfrm>
            <a:off x="5577840" y="2029968"/>
            <a:ext cx="13716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Web3 Earners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577840" y="2331720"/>
            <a:ext cx="1371600" cy="5486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Freelancers in emerging markets paid in crypto with no bank data.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315200" y="1463040"/>
            <a:ext cx="1554480" cy="16002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4" name="文本框 23"/>
          <p:cNvSpPr txBox="1"/>
          <p:nvPr/>
        </p:nvSpPr>
        <p:spPr>
          <a:xfrm>
            <a:off x="7406640" y="1554480"/>
            <a:ext cx="411480" cy="411480"/>
          </a:xfrm>
          <a:prstGeom prst="rect">
            <a:avLst/>
          </a:prstGeom>
        </p:spPr>
        <p:txBody>
          <a:bodyPr/>
          <a:lstStyle/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F9BBCC6-F68B-BD4E-7688-F1B13A8CC72C}"/>
              </a:ext>
            </a:extLst>
          </p:cNvPr>
          <p:cNvPicPr>
            <a:picLocks noChangeAspect="1"/>
          </p:cNvPicPr>
          <p:nvPr/>
        </p:nvPicPr>
        <p:spPr>
          <a:xfrm>
            <a:off x="7461504" y="1609344"/>
            <a:ext cx="301752" cy="301752"/>
          </a:xfrm>
          <a:prstGeom prst="rect">
            <a:avLst/>
          </a:prstGeom>
        </p:sp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</p:pic>
      <p:sp>
        <p:nvSpPr>
          <p:cNvPr id="26" name="文本框 25"/>
          <p:cNvSpPr txBox="1"/>
          <p:nvPr/>
        </p:nvSpPr>
        <p:spPr>
          <a:xfrm>
            <a:off x="7406640" y="2029968"/>
            <a:ext cx="13716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DAOs &amp; SMEs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406640" y="2331720"/>
            <a:ext cx="1371600" cy="5486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On-chain organizations needing operational credit lines.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657600" y="3154680"/>
            <a:ext cx="5212080" cy="18288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9" name="文本框 28"/>
          <p:cNvSpPr txBox="1"/>
          <p:nvPr/>
        </p:nvSpPr>
        <p:spPr>
          <a:xfrm>
            <a:off x="3794760" y="3246120"/>
            <a:ext cx="32004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THE OPBNB ECONOMIC ADVANTAGE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794760" y="3493008"/>
            <a:ext cx="2926080" cy="4572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Privacy is expensive on Ethereum. opBNB makes ZK credit scoring economically viable at scale.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794760" y="4005072"/>
            <a:ext cx="27432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✓ Proof Verification &lt; $0.01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794760" y="4233672"/>
            <a:ext cx="27432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FFFFFF"/>
                </a:solidFill>
              </a:rPr>
              <a:t>✓ Throughput 5,000+ TPS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583680" y="3246120"/>
            <a:ext cx="219456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10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VERIFICATION COST (USD)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583680" y="3493008"/>
            <a:ext cx="13716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Ethereum L1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6583680" y="3767328"/>
            <a:ext cx="2194560" cy="274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6" name="文本框 35"/>
          <p:cNvSpPr txBox="1"/>
          <p:nvPr/>
        </p:nvSpPr>
        <p:spPr>
          <a:xfrm>
            <a:off x="6583680" y="3767328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FFFFFF"/>
                </a:solidFill>
              </a:rPr>
              <a:t>HIGH COST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583680" y="4114800"/>
            <a:ext cx="13716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opBNB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583680" y="4389120"/>
            <a:ext cx="640080" cy="2743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9" name="文本框 38"/>
          <p:cNvSpPr txBox="1"/>
          <p:nvPr/>
        </p:nvSpPr>
        <p:spPr>
          <a:xfrm>
            <a:off x="6583680" y="4389120"/>
            <a:ext cx="64008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000000"/>
                </a:solidFill>
              </a:rPr>
              <a:t>&lt; $0.01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SUSTAINABILITY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64008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Business 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5A623"/>
                </a:solidFill>
              </a:rPr>
              <a:t>Model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675120" y="502920"/>
            <a:ext cx="2194560" cy="5943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6" name="文本框 5"/>
          <p:cNvSpPr txBox="1"/>
          <p:nvPr/>
        </p:nvSpPr>
        <p:spPr>
          <a:xfrm>
            <a:off x="6675120" y="548640"/>
            <a:ext cx="2194560" cy="201168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10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PROJECTED MONTHLY REVENUE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75120" y="768096"/>
            <a:ext cx="2194560" cy="27432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300">
                <a:latin charset="0" typeface="PingFang SC"/>
                <a:ea charset="0" typeface="PingFang SC"/>
                <a:solidFill>
                  <a:srgbClr val="F5A623"/>
                </a:solidFill>
              </a:rPr>
              <a:t>$5,000 @ $1M TVL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2880" y="1234440"/>
            <a:ext cx="3840480" cy="1234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9" name="文本框 8"/>
          <p:cNvSpPr txBox="1"/>
          <p:nvPr/>
        </p:nvSpPr>
        <p:spPr>
          <a:xfrm>
            <a:off x="292608" y="1325880"/>
            <a:ext cx="365760" cy="3657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0" name="文本框 9"/>
          <p:cNvSpPr txBox="1"/>
          <p:nvPr/>
        </p:nvSpPr>
        <p:spPr>
          <a:xfrm>
            <a:off x="292608" y="1325880"/>
            <a:ext cx="365760" cy="36576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77240" y="1353312"/>
            <a:ext cx="310896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Origination Fee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92608" y="1709928"/>
            <a:ext cx="1828800" cy="3657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2200">
                <a:latin charset="0" typeface="PingFang SC"/>
                <a:ea charset="0" typeface="PingFang SC"/>
                <a:solidFill>
                  <a:srgbClr val="F5A623"/>
                </a:solidFill>
              </a:rPr>
              <a:t>0.5% per loan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2608" y="2148840"/>
            <a:ext cx="36576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Charged upfront on principal disbursement. Immediate protocol revenue independent of loan duration.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82880" y="2578608"/>
            <a:ext cx="3840480" cy="1234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5" name="文本框 14"/>
          <p:cNvSpPr txBox="1"/>
          <p:nvPr/>
        </p:nvSpPr>
        <p:spPr>
          <a:xfrm>
            <a:off x="292608" y="2670048"/>
            <a:ext cx="365760" cy="3657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6" name="文本框 15"/>
          <p:cNvSpPr txBox="1"/>
          <p:nvPr/>
        </p:nvSpPr>
        <p:spPr>
          <a:xfrm>
            <a:off x="292608" y="2670048"/>
            <a:ext cx="365760" cy="36576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77240" y="2697480"/>
            <a:ext cx="310896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Interest Spread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92608" y="3063240"/>
            <a:ext cx="347472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100">
                <a:latin charset="0" typeface="PingFang SC"/>
                <a:ea charset="0" typeface="PingFang SC"/>
                <a:solidFill>
                  <a:srgbClr val="E53935"/>
                </a:solidFill>
              </a:rPr>
              <a:t>Borrower Pays   18% APR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292608" y="3337560"/>
            <a:ext cx="3474720" cy="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0" name="文本框 19"/>
          <p:cNvSpPr txBox="1"/>
          <p:nvPr/>
        </p:nvSpPr>
        <p:spPr>
          <a:xfrm>
            <a:off x="292608" y="3401568"/>
            <a:ext cx="18288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1000">
                <a:latin charset="0" typeface="PingFang SC"/>
                <a:ea charset="0" typeface="PingFang SC"/>
                <a:solidFill>
                  <a:srgbClr val="4CAF50"/>
                </a:solidFill>
              </a:rPr>
              <a:t>Lender Earns  8% APY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286000" y="3383280"/>
            <a:ext cx="1371600" cy="256032"/>
          </a:xfrm>
          <a:prstGeom prst="rect">
            <a:avLst/>
          </a:prstGeom>
        </p:spPr>
        <p:txBody>
          <a:bodyPr/>
          <a:lstStyle/>
        </p:txBody>
      </p:sp>
      <p:sp>
        <p:nvSpPr>
          <p:cNvPr id="22" name="文本框 21"/>
          <p:cNvSpPr txBox="1"/>
          <p:nvPr/>
        </p:nvSpPr>
        <p:spPr>
          <a:xfrm>
            <a:off x="2286000" y="3383280"/>
            <a:ext cx="1371600" cy="256032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800">
                <a:latin charset="0" typeface="PingFang SC"/>
                <a:ea charset="0" typeface="PingFang SC"/>
                <a:solidFill>
                  <a:srgbClr val="000000"/>
                </a:solidFill>
              </a:rPr>
              <a:t>2% Spread  →  Protocol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160520" y="1234440"/>
            <a:ext cx="4754880" cy="22860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24" name="文本框 23"/>
          <p:cNvSpPr txBox="1"/>
          <p:nvPr/>
        </p:nvSpPr>
        <p:spPr>
          <a:xfrm>
            <a:off x="4297680" y="1325880"/>
            <a:ext cx="36576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Revenue Projection (Monthly)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572000" y="3136392"/>
            <a:ext cx="640080" cy="64008"/>
          </a:xfrm>
          <a:prstGeom prst="rect">
            <a:avLst/>
          </a:prstGeom>
        </p:spPr>
        <p:txBody>
          <a:bodyPr/>
          <a:lstStyle/>
        </p:txBody>
      </p:sp>
      <p:sp>
        <p:nvSpPr>
          <p:cNvPr id="26" name="文本框 25"/>
          <p:cNvSpPr txBox="1"/>
          <p:nvPr/>
        </p:nvSpPr>
        <p:spPr>
          <a:xfrm>
            <a:off x="4480560" y="3246120"/>
            <a:ext cx="822960" cy="36576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Seed</a:t>
            </a:r>
          </a:p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($100k)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669280" y="2752344"/>
            <a:ext cx="640080" cy="448056"/>
          </a:xfrm>
          <a:prstGeom prst="rect">
            <a:avLst/>
          </a:prstGeom>
        </p:spPr>
        <p:txBody>
          <a:bodyPr/>
          <a:lstStyle/>
        </p:txBody>
      </p:sp>
      <p:sp>
        <p:nvSpPr>
          <p:cNvPr id="28" name="文本框 27"/>
          <p:cNvSpPr txBox="1"/>
          <p:nvPr/>
        </p:nvSpPr>
        <p:spPr>
          <a:xfrm>
            <a:off x="5577840" y="3246120"/>
            <a:ext cx="822960" cy="36576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Growth</a:t>
            </a:r>
          </a:p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($600k)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766560" y="2432304"/>
            <a:ext cx="640080" cy="768096"/>
          </a:xfrm>
          <a:prstGeom prst="rect">
            <a:avLst/>
          </a:prstGeom>
        </p:spPr>
        <p:txBody>
          <a:bodyPr/>
          <a:lstStyle/>
        </p:txBody>
      </p:sp>
      <p:sp>
        <p:nvSpPr>
          <p:cNvPr id="30" name="文本框 29"/>
          <p:cNvSpPr txBox="1"/>
          <p:nvPr/>
        </p:nvSpPr>
        <p:spPr>
          <a:xfrm>
            <a:off x="6675120" y="3246120"/>
            <a:ext cx="822960" cy="36576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Scale</a:t>
            </a:r>
          </a:p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($1M)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863840" y="1920240"/>
            <a:ext cx="640080" cy="1280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2" name="文本框 31"/>
          <p:cNvSpPr txBox="1"/>
          <p:nvPr/>
        </p:nvSpPr>
        <p:spPr>
          <a:xfrm>
            <a:off x="7772400" y="3246120"/>
            <a:ext cx="822960" cy="36576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Series A</a:t>
            </a:r>
          </a:p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($6M)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492240" y="2560320"/>
            <a:ext cx="13716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$5,000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492240" y="2788920"/>
            <a:ext cx="13716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Current Target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549640" y="1325880"/>
            <a:ext cx="91440" cy="914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6" name="文本框 35"/>
          <p:cNvSpPr txBox="1"/>
          <p:nvPr/>
        </p:nvSpPr>
        <p:spPr>
          <a:xfrm>
            <a:off x="8686800" y="1289304"/>
            <a:ext cx="9144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Protocol Fees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160520" y="3675888"/>
            <a:ext cx="4754880" cy="1188720"/>
          </a:xfrm>
          <a:prstGeom prst="rect">
            <a:avLst/>
          </a:prstGeom>
        </p:spPr>
        <p:txBody>
          <a:bodyPr/>
          <a:lstStyle/>
        </p:txBody>
      </p:sp>
      <p:sp>
        <p:nvSpPr>
          <p:cNvPr id="38" name="文本框 37"/>
          <p:cNvSpPr txBox="1"/>
          <p:nvPr/>
        </p:nvSpPr>
        <p:spPr>
          <a:xfrm>
            <a:off x="4297680" y="3749040"/>
            <a:ext cx="27432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200">
                <a:latin charset="0" typeface="PingFang SC"/>
                <a:ea charset="0" typeface="PingFang SC"/>
                <a:solidFill>
                  <a:srgbClr val="FFFFFF"/>
                </a:solidFill>
              </a:rPr>
              <a:t>Long-Term Governance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4297680" y="4023360"/>
            <a:ext cx="365760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Transition to community ownership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8046720" y="3749040"/>
            <a:ext cx="822960" cy="228600"/>
          </a:xfrm>
          <a:prstGeom prst="rect">
            <a:avLst/>
          </a:prstGeom>
        </p:spPr>
        <p:txBody>
          <a:bodyPr/>
          <a:lstStyle/>
        </p:txBody>
      </p:sp>
      <p:sp>
        <p:nvSpPr>
          <p:cNvPr id="41" name="文本框 40"/>
          <p:cNvSpPr txBox="1"/>
          <p:nvPr/>
        </p:nvSpPr>
        <p:spPr>
          <a:xfrm>
            <a:off x="8046720" y="3749040"/>
            <a:ext cx="822960" cy="22860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Phase: Q3 2026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4297680" y="4279392"/>
            <a:ext cx="256032" cy="256032"/>
          </a:xfrm>
          <a:prstGeom prst="rect">
            <a:avLst/>
          </a:prstGeom>
        </p:spPr>
        <p:txBody>
          <a:bodyPr/>
          <a:lstStyle/>
        </p:txBody>
      </p:sp>
      <p:sp>
        <p:nvSpPr>
          <p:cNvPr id="43" name="文本框 42"/>
          <p:cNvSpPr txBox="1"/>
          <p:nvPr/>
        </p:nvSpPr>
        <p:spPr>
          <a:xfrm>
            <a:off x="4434840" y="4297680"/>
            <a:ext cx="146304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Buyback &amp; Burn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434840" y="4498848"/>
            <a:ext cx="146304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Deflationary pressure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5852160" y="4279392"/>
            <a:ext cx="256032" cy="256032"/>
          </a:xfrm>
          <a:prstGeom prst="rect">
            <a:avLst/>
          </a:prstGeom>
        </p:spPr>
        <p:txBody>
          <a:bodyPr/>
          <a:lstStyle/>
        </p:txBody>
      </p:sp>
      <p:sp>
        <p:nvSpPr>
          <p:cNvPr id="46" name="文本框 45"/>
          <p:cNvSpPr txBox="1"/>
          <p:nvPr/>
        </p:nvSpPr>
        <p:spPr>
          <a:xfrm>
            <a:off x="5989320" y="4297680"/>
            <a:ext cx="146304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Staking Yield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5989320" y="4498848"/>
            <a:ext cx="146304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Reward lockers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7406640" y="4279392"/>
            <a:ext cx="256032" cy="256032"/>
          </a:xfrm>
          <a:prstGeom prst="rect">
            <a:avLst/>
          </a:prstGeom>
        </p:spPr>
        <p:txBody>
          <a:bodyPr/>
          <a:lstStyle/>
        </p:txBody>
      </p:sp>
      <p:sp>
        <p:nvSpPr>
          <p:cNvPr id="49" name="文本框 48"/>
          <p:cNvSpPr txBox="1"/>
          <p:nvPr/>
        </p:nvSpPr>
        <p:spPr>
          <a:xfrm>
            <a:off x="7543800" y="4297680"/>
            <a:ext cx="146304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900">
                <a:latin charset="0" typeface="PingFang SC"/>
                <a:ea charset="0" typeface="PingFang SC"/>
                <a:solidFill>
                  <a:srgbClr val="FFFFFF"/>
                </a:solidFill>
              </a:rPr>
              <a:t>Builder Fund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543800" y="4498848"/>
            <a:ext cx="146304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Ecosystem grants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9144000" cy="54864"/>
          </a:xfrm>
          <a:prstGeom prst="rect">
            <a:avLst/>
          </a:prstGeom>
        </p:spPr>
        <p:txBody>
          <a:bodyPr/>
          <a:lstStyle/>
        </p:txBody>
      </p:sp>
      <p:sp>
        <p:nvSpPr>
          <p:cNvPr id="3" name="文本框 2"/>
          <p:cNvSpPr txBox="1"/>
          <p:nvPr/>
        </p:nvSpPr>
        <p:spPr>
          <a:xfrm>
            <a:off x="457200" y="228600"/>
            <a:ext cx="457200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20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THE PATH FORWARD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200" y="502920"/>
            <a:ext cx="6400800" cy="59436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FFFFF"/>
                </a:solidFill>
              </a:rPr>
              <a:t>Project </a:t>
            </a:r>
            <a:r>
              <a:rPr altLang="en-US" b="1" lang="zh-CN" spc="0" sz="3400">
                <a:latin charset="0" typeface="PingFang SC"/>
                <a:ea charset="0" typeface="PingFang SC"/>
                <a:solidFill>
                  <a:srgbClr val="F5A623"/>
                </a:solidFill>
              </a:rPr>
              <a:t>Roadmap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132320" y="548640"/>
            <a:ext cx="173736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6" name="文本框 5"/>
          <p:cNvSpPr txBox="1"/>
          <p:nvPr/>
        </p:nvSpPr>
        <p:spPr>
          <a:xfrm>
            <a:off x="7132320" y="548640"/>
            <a:ext cx="1737360" cy="320040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F5A623"/>
                </a:solidFill>
              </a:rPr>
              <a:t>Phase 1 Complete 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57200" y="2606040"/>
            <a:ext cx="8229600" cy="0"/>
          </a:xfrm>
          <a:prstGeom prst="rect">
            <a:avLst/>
          </a:prstGeom>
        </p:spPr>
        <p:txBody>
          <a:bodyPr/>
          <a:lstStyle/>
        </p:txBody>
      </p:sp>
      <p:sp>
        <p:nvSpPr>
          <p:cNvPr id="8" name="文本框 7"/>
          <p:cNvSpPr txBox="1"/>
          <p:nvPr/>
        </p:nvSpPr>
        <p:spPr>
          <a:xfrm>
            <a:off x="1188720" y="2450592"/>
            <a:ext cx="3200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9" name="文本框 8"/>
          <p:cNvSpPr txBox="1"/>
          <p:nvPr/>
        </p:nvSpPr>
        <p:spPr>
          <a:xfrm>
            <a:off x="4572000" y="2450592"/>
            <a:ext cx="3200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0" name="文本框 9"/>
          <p:cNvSpPr txBox="1"/>
          <p:nvPr/>
        </p:nvSpPr>
        <p:spPr>
          <a:xfrm>
            <a:off x="7680960" y="2450592"/>
            <a:ext cx="320040" cy="32004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1" name="文本框 10"/>
          <p:cNvSpPr txBox="1"/>
          <p:nvPr/>
        </p:nvSpPr>
        <p:spPr>
          <a:xfrm>
            <a:off x="274320" y="1280160"/>
            <a:ext cx="2743200" cy="109728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2" name="文本框 11"/>
          <p:cNvSpPr txBox="1"/>
          <p:nvPr/>
        </p:nvSpPr>
        <p:spPr>
          <a:xfrm>
            <a:off x="2103120" y="1280160"/>
            <a:ext cx="914400" cy="256032"/>
          </a:xfrm>
          <a:prstGeom prst="rect">
            <a:avLst/>
          </a:prstGeom>
        </p:spPr>
        <p:txBody>
          <a:bodyPr/>
          <a:lstStyle/>
        </p:txBody>
      </p:sp>
      <p:sp>
        <p:nvSpPr>
          <p:cNvPr id="13" name="文本框 12"/>
          <p:cNvSpPr txBox="1"/>
          <p:nvPr/>
        </p:nvSpPr>
        <p:spPr>
          <a:xfrm>
            <a:off x="2103120" y="1280160"/>
            <a:ext cx="914400" cy="256032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700">
                <a:latin charset="0" typeface="PingFang SC"/>
                <a:ea charset="0" typeface="PingFang SC"/>
                <a:solidFill>
                  <a:srgbClr val="000000"/>
                </a:solidFill>
              </a:rPr>
              <a:t>DECENTRALIZE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11480" y="1325880"/>
            <a:ext cx="16459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11480" y="1664208"/>
            <a:ext cx="246888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DAO Governance — Community ownership &amp; fee distribution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11480" y="2011680"/>
            <a:ext cx="246888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Production Verifier — Replace mock w/ full Groth16 circuit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566160" y="2926080"/>
            <a:ext cx="2743200" cy="1280160"/>
          </a:xfrm>
          <a:prstGeom prst="rect">
            <a:avLst/>
          </a:prstGeom>
        </p:spPr>
        <p:txBody>
          <a:bodyPr/>
          <a:lstStyle/>
        </p:txBody>
      </p:sp>
      <p:sp>
        <p:nvSpPr>
          <p:cNvPr id="18" name="文本框 17"/>
          <p:cNvSpPr txBox="1"/>
          <p:nvPr/>
        </p:nvSpPr>
        <p:spPr>
          <a:xfrm>
            <a:off x="5212080" y="2926080"/>
            <a:ext cx="731520" cy="256032"/>
          </a:xfrm>
          <a:prstGeom prst="rect">
            <a:avLst/>
          </a:prstGeom>
        </p:spPr>
        <p:txBody>
          <a:bodyPr/>
          <a:lstStyle/>
        </p:txBody>
      </p:sp>
      <p:sp>
        <p:nvSpPr>
          <p:cNvPr id="19" name="文本框 18"/>
          <p:cNvSpPr txBox="1"/>
          <p:nvPr/>
        </p:nvSpPr>
        <p:spPr>
          <a:xfrm>
            <a:off x="5212080" y="2926080"/>
            <a:ext cx="731520" cy="256032"/>
          </a:xfrm>
          <a:prstGeom prst="rect">
            <a:avLst/>
          </a:prstGeom>
        </p:spPr>
        <p:txBody>
          <a:bodyPr/>
          <a:lstStyle/>
          <a:p>
            <a:pPr algn="ctr" lvl="0">
              <a:buNone/>
            </a:pPr>
            <a:r>
              <a:rPr altLang="en-US" b="1" lang="zh-CN" spc="0" sz="700">
                <a:latin charset="0" typeface="PingFang SC"/>
                <a:ea charset="0" typeface="PingFang SC"/>
                <a:solidFill>
                  <a:srgbClr val="AAAAAA"/>
                </a:solidFill>
              </a:rPr>
              <a:t>EXPAND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703320" y="2971800"/>
            <a:ext cx="164592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703320" y="3310128"/>
            <a:ext cx="246888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Cross-Chain — BNB L2s &amp; Mainnet Rollup ecosystem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703320" y="3657600"/>
            <a:ext cx="2468880" cy="3200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Advanced Models — Integration with off-chain income data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132320" y="1463040"/>
            <a:ext cx="1828800" cy="27432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400">
                <a:latin charset="0" typeface="PingFang SC"/>
                <a:ea charset="0" typeface="PingFang SC"/>
                <a:solidFill>
                  <a:srgbClr val="AAAAAA"/>
                </a:solidFill>
              </a:rPr>
              <a:t>2027+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949440" y="1783080"/>
            <a:ext cx="2011680" cy="54864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i="1" lang="zh-CN" spc="0" sz="900">
                <a:latin charset="0" typeface="PingFang SC"/>
                <a:ea charset="0" typeface="PingFang SC"/>
                <a:solidFill>
                  <a:srgbClr val="AAAAAA"/>
                </a:solidFill>
              </a:rPr>
              <a:t>Identity Abstraction &amp; Zero-Knowledge KYC Integration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82880" y="4206240"/>
            <a:ext cx="173736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100">
                <a:latin charset="0" typeface="PingFang SC"/>
                <a:ea charset="0" typeface="PingFang SC"/>
                <a:solidFill>
                  <a:srgbClr val="FFFFFF"/>
                </a:solidFill>
              </a:rPr>
              <a:t>Continuous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82880" y="4434840"/>
            <a:ext cx="173736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Parallel workstreams ensuring security &amp; growth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965960" y="4206240"/>
            <a:ext cx="173736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5A623"/>
                </a:solidFill>
              </a:rPr>
              <a:t>Risk Hardening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1965960" y="4434840"/>
            <a:ext cx="173736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SECURITY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749040" y="4206240"/>
            <a:ext cx="173736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5A623"/>
                </a:solidFill>
              </a:rPr>
              <a:t>Anomaly Detection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749040" y="4434840"/>
            <a:ext cx="173736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AI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532120" y="4206240"/>
            <a:ext cx="173736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5A623"/>
                </a:solidFill>
              </a:rPr>
              <a:t>Contract Verification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5532120" y="4434840"/>
            <a:ext cx="173736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AUDIT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315200" y="4206240"/>
            <a:ext cx="1737360" cy="22860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b="1" lang="zh-CN" spc="0" sz="1000">
                <a:latin charset="0" typeface="PingFang SC"/>
                <a:ea charset="0" typeface="PingFang SC"/>
                <a:solidFill>
                  <a:srgbClr val="F5A623"/>
                </a:solidFill>
              </a:rPr>
              <a:t>Ecosystem Partners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315200" y="4434840"/>
            <a:ext cx="1737360" cy="201168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GROWTH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82880" y="4846320"/>
            <a:ext cx="4572000" cy="182880"/>
          </a:xfrm>
          <a:prstGeom prst="rect">
            <a:avLst/>
          </a:prstGeom>
        </p:spPr>
        <p:txBody>
          <a:bodyPr/>
          <a:lstStyle/>
          <a:p>
            <a:pPr algn="l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Milestones subject to DAO approval post-launch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858000" y="4846320"/>
            <a:ext cx="2103120" cy="182880"/>
          </a:xfrm>
          <a:prstGeom prst="rect">
            <a:avLst/>
          </a:prstGeom>
        </p:spPr>
        <p:txBody>
          <a:bodyPr/>
          <a:lstStyle/>
          <a:p>
            <a:pPr algn="r" lvl="0">
              <a:buNone/>
            </a:pPr>
            <a:r>
              <a:rPr altLang="en-US" lang="zh-CN" spc="0" sz="800">
                <a:latin charset="0" typeface="PingFang SC"/>
                <a:ea charset="0" typeface="PingFang SC"/>
                <a:solidFill>
                  <a:srgbClr val="AAAAAA"/>
                </a:solidFill>
              </a:rPr>
              <a:t>Roadmap v1.0</a:t>
            </a:r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</Application>
  <PresentationFormat>宽屏</PresentationFormat>
  <Slides>11</Slides>
  <Notes>0</Notes>
  <HiddenSlides>0</HiddenSlides>
  <ScaleCrop>false</ScaleCrop>
  <HeadingPairs>
    <vt:vector baseType="variant" size="12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baseType="lpstr" size="12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标题</dc:title>
  <dc:creator>PPT</dc:creator>
  <cp:lastModifiedBy>PPT</cp:lastModifiedBy>
  <cp:revision>1</cp:revision>
  <dcterms:created xsi:type="dcterms:W3CDTF">2026-02-28T08:23:17Z</dcterms:created>
  <dcterms:modified xsi:type="dcterms:W3CDTF">2026-02-28T08:23:17Z</dcterms:modified>
</cp:coreProperties>
</file>